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8229600" cx="14630400"/>
  <p:notesSz cx="8229600" cy="14630400"/>
  <p:embeddedFontLst>
    <p:embeddedFont>
      <p:font typeface="Cabin"/>
      <p:regular r:id="rId17"/>
      <p:bold r:id="rId18"/>
      <p:italic r:id="rId19"/>
      <p:boldItalic r:id="rId20"/>
    </p:embeddedFont>
    <p:embeddedFont>
      <p:font typeface="Unbounde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abin-boldItalic.fntdata"/><Relationship Id="rId11" Type="http://schemas.openxmlformats.org/officeDocument/2006/relationships/slide" Target="slides/slide7.xml"/><Relationship Id="rId22" Type="http://schemas.openxmlformats.org/officeDocument/2006/relationships/font" Target="fonts/Unbounded-bold.fntdata"/><Relationship Id="rId10" Type="http://schemas.openxmlformats.org/officeDocument/2006/relationships/slide" Target="slides/slide6.xml"/><Relationship Id="rId21" Type="http://schemas.openxmlformats.org/officeDocument/2006/relationships/font" Target="fonts/Unbounded-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Cabin-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Cabin-italic.fntdata"/><Relationship Id="rId6" Type="http://schemas.openxmlformats.org/officeDocument/2006/relationships/slide" Target="slides/slide2.xml"/><Relationship Id="rId18" Type="http://schemas.openxmlformats.org/officeDocument/2006/relationships/font" Target="fonts/Cabin-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*Whole Group*</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cdfee72d9e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g3cdfee72d9e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*Mim*</a:t>
            </a:r>
            <a:endParaRPr/>
          </a:p>
        </p:txBody>
      </p:sp>
      <p:sp>
        <p:nvSpPr>
          <p:cNvPr id="62" name="Google Shape;62;g3cdfee72d9e_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dfee72d9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g3cdfee72d9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*Mim*</a:t>
            </a:r>
            <a:endParaRPr/>
          </a:p>
        </p:txBody>
      </p:sp>
      <p:sp>
        <p:nvSpPr>
          <p:cNvPr id="70" name="Google Shape;70;g3cdfee72d9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*Rishika*</a:t>
            </a:r>
            <a:endParaRPr/>
          </a:p>
        </p:txBody>
      </p:sp>
      <p:sp>
        <p:nvSpPr>
          <p:cNvPr id="78" name="Google Shape;7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600532337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600532337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*Thierno*</a:t>
            </a:r>
            <a:endParaRPr/>
          </a:p>
        </p:txBody>
      </p:sp>
      <p:sp>
        <p:nvSpPr>
          <p:cNvPr id="102" name="Google Shape;102;g39600532337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600532337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600532337_4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*Muhammad*</a:t>
            </a:r>
            <a:endParaRPr/>
          </a:p>
        </p:txBody>
      </p:sp>
      <p:sp>
        <p:nvSpPr>
          <p:cNvPr id="111" name="Google Shape;111;g39600532337_4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cdfee72d9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3cdfee72d9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*Tyler*</a:t>
            </a:r>
            <a:endParaRPr/>
          </a:p>
        </p:txBody>
      </p:sp>
      <p:sp>
        <p:nvSpPr>
          <p:cNvPr id="119" name="Google Shape;119;g3cdfee72d9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*Tyler*</a:t>
            </a:r>
            <a:endParaRPr/>
          </a:p>
        </p:txBody>
      </p:sp>
      <p:sp>
        <p:nvSpPr>
          <p:cNvPr id="143" name="Google Shape;14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*Tyler*</a:t>
            </a:r>
            <a:endParaRPr/>
          </a:p>
        </p:txBody>
      </p:sp>
      <p:sp>
        <p:nvSpPr>
          <p:cNvPr id="154" name="Google Shape;15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*Guillermo*</a:t>
            </a:r>
            <a:endParaRPr/>
          </a:p>
        </p:txBody>
      </p:sp>
      <p:sp>
        <p:nvSpPr>
          <p:cNvPr id="173" name="Google Shape;17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dfee72d9e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cdfee72d9e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*Guillermo*</a:t>
            </a:r>
            <a:br>
              <a:rPr lang="en-US"/>
            </a:br>
            <a:br>
              <a:rPr lang="en-US"/>
            </a:br>
            <a:r>
              <a:rPr lang="en-US"/>
              <a:t>Low operating cost: App is used to host user vehicles rather than our fleet, less upfront and maintenance costs</a:t>
            </a:r>
            <a:endParaRPr/>
          </a:p>
          <a:p>
            <a:pPr indent="0" lvl="0" marL="0" rtl="0" algn="l">
              <a:spcBef>
                <a:spcPts val="0"/>
              </a:spcBef>
              <a:spcAft>
                <a:spcPts val="0"/>
              </a:spcAft>
              <a:buNone/>
            </a:pPr>
            <a:r>
              <a:rPr lang="en-US"/>
              <a:t>High user demand: Many people need cars for special occasions rather than everyday use, and many people have cars they don’t use</a:t>
            </a:r>
            <a:endParaRPr/>
          </a:p>
          <a:p>
            <a:pPr indent="0" lvl="0" marL="0" rtl="0" algn="l">
              <a:spcBef>
                <a:spcPts val="0"/>
              </a:spcBef>
              <a:spcAft>
                <a:spcPts val="0"/>
              </a:spcAft>
              <a:buNone/>
            </a:pPr>
            <a:r>
              <a:rPr lang="en-US"/>
              <a:t>Expandable Platform: Able to add more features and deploy to more areas with time</a:t>
            </a:r>
            <a:endParaRPr/>
          </a:p>
          <a:p>
            <a:pPr indent="0" lvl="0" marL="0" rtl="0" algn="l">
              <a:spcBef>
                <a:spcPts val="0"/>
              </a:spcBef>
              <a:spcAft>
                <a:spcPts val="0"/>
              </a:spcAft>
              <a:buNone/>
            </a:pPr>
            <a:r>
              <a:rPr lang="en-US"/>
              <a:t>Recurring revenue:  Each listed vehicle can generate income multiple times per month, where one car can be rented to multiple customer which create a ongoing cash flow</a:t>
            </a:r>
            <a:endParaRPr/>
          </a:p>
        </p:txBody>
      </p:sp>
      <p:sp>
        <p:nvSpPr>
          <p:cNvPr id="181" name="Google Shape;181;g3cdfee72d9e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*Rishika*</a:t>
            </a:r>
            <a:endParaRPr/>
          </a:p>
        </p:txBody>
      </p:sp>
      <p:sp>
        <p:nvSpPr>
          <p:cNvPr id="190" name="Google Shape;19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hyperlink" Target="https://gamma.app/?utm_source=made-with-gamma" TargetMode="Externa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4" name="Shape 14"/>
        <p:cNvGrpSpPr/>
        <p:nvPr/>
      </p:nvGrpSpPr>
      <p:grpSpPr>
        <a:xfrm>
          <a:off x="0" y="0"/>
          <a:ext cx="0" cy="0"/>
          <a:chOff x="0" y="0"/>
          <a:chExt cx="0" cy="0"/>
        </a:xfrm>
      </p:grpSpPr>
      <p:pic>
        <p:nvPicPr>
          <p:cNvPr descr="preencoded.png" id="15" name="Google Shape;15;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3"/>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4"/>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22" name="Shape 22"/>
        <p:cNvGrpSpPr/>
        <p:nvPr/>
      </p:nvGrpSpPr>
      <p:grpSpPr>
        <a:xfrm>
          <a:off x="0" y="0"/>
          <a:ext cx="0" cy="0"/>
          <a:chOff x="0" y="0"/>
          <a:chExt cx="0" cy="0"/>
        </a:xfrm>
      </p:grpSpPr>
      <p:pic>
        <p:nvPicPr>
          <p:cNvPr descr="preencoded.png" id="23" name="Google Shape;23;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5"/>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6" name="Shape 26"/>
        <p:cNvGrpSpPr/>
        <p:nvPr/>
      </p:nvGrpSpPr>
      <p:grpSpPr>
        <a:xfrm>
          <a:off x="0" y="0"/>
          <a:ext cx="0" cy="0"/>
          <a:chOff x="0" y="0"/>
          <a:chExt cx="0" cy="0"/>
        </a:xfrm>
      </p:grpSpPr>
      <p:pic>
        <p:nvPicPr>
          <p:cNvPr descr="preencoded.png" id="27" name="Google Shape;27;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6"/>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30" name="Shape 30"/>
        <p:cNvGrpSpPr/>
        <p:nvPr/>
      </p:nvGrpSpPr>
      <p:grpSpPr>
        <a:xfrm>
          <a:off x="0" y="0"/>
          <a:ext cx="0" cy="0"/>
          <a:chOff x="0" y="0"/>
          <a:chExt cx="0" cy="0"/>
        </a:xfrm>
      </p:grpSpPr>
      <p:pic>
        <p:nvPicPr>
          <p:cNvPr descr="preencoded.png" id="31" name="Google Shape;31;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7"/>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34" name="Shape 34"/>
        <p:cNvGrpSpPr/>
        <p:nvPr/>
      </p:nvGrpSpPr>
      <p:grpSpPr>
        <a:xfrm>
          <a:off x="0" y="0"/>
          <a:ext cx="0" cy="0"/>
          <a:chOff x="0" y="0"/>
          <a:chExt cx="0" cy="0"/>
        </a:xfrm>
      </p:grpSpPr>
      <p:pic>
        <p:nvPicPr>
          <p:cNvPr descr="preencoded.png" id="35" name="Google Shape;35;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8"/>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8" name="Shape 38"/>
        <p:cNvGrpSpPr/>
        <p:nvPr/>
      </p:nvGrpSpPr>
      <p:grpSpPr>
        <a:xfrm>
          <a:off x="0" y="0"/>
          <a:ext cx="0" cy="0"/>
          <a:chOff x="0" y="0"/>
          <a:chExt cx="0" cy="0"/>
        </a:xfrm>
      </p:grpSpPr>
      <p:pic>
        <p:nvPicPr>
          <p:cNvPr descr="preencoded.png" id="39" name="Google Shape;39;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9"/>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42" name="Shape 42"/>
        <p:cNvGrpSpPr/>
        <p:nvPr/>
      </p:nvGrpSpPr>
      <p:grpSpPr>
        <a:xfrm>
          <a:off x="0" y="0"/>
          <a:ext cx="0" cy="0"/>
          <a:chOff x="0" y="0"/>
          <a:chExt cx="0" cy="0"/>
        </a:xfrm>
      </p:grpSpPr>
      <p:pic>
        <p:nvPicPr>
          <p:cNvPr descr="preencoded.png" id="43" name="Google Shape;43;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4" name="Google Shape;44;p10"/>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46" name="Shape 46"/>
        <p:cNvGrpSpPr/>
        <p:nvPr/>
      </p:nvGrpSpPr>
      <p:grpSpPr>
        <a:xfrm>
          <a:off x="0" y="0"/>
          <a:ext cx="0" cy="0"/>
          <a:chOff x="0" y="0"/>
          <a:chExt cx="0" cy="0"/>
        </a:xfrm>
      </p:grpSpPr>
      <p:pic>
        <p:nvPicPr>
          <p:cNvPr descr="preencoded.png" id="47" name="Google Shape;47;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8" name="Google Shape;48;p11"/>
          <p:cNvSpPr/>
          <p:nvPr/>
        </p:nvSpPr>
        <p:spPr>
          <a:xfrm>
            <a:off x="0" y="0"/>
            <a:ext cx="14630400" cy="8229600"/>
          </a:xfrm>
          <a:prstGeom prst="rect">
            <a:avLst/>
          </a:prstGeom>
          <a:solidFill>
            <a:srgbClr val="1128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image" Target="../media/image20.png"/><Relationship Id="rId6"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p:nvPr/>
        </p:nvSpPr>
        <p:spPr>
          <a:xfrm>
            <a:off x="3883500" y="640945"/>
            <a:ext cx="6863400" cy="8640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FFFFF"/>
              </a:buClr>
              <a:buSzPts val="4400"/>
              <a:buFont typeface="Unbounded"/>
              <a:buNone/>
            </a:pPr>
            <a:r>
              <a:rPr b="1" lang="en-US" sz="6600">
                <a:solidFill>
                  <a:srgbClr val="FFFFFF"/>
                </a:solidFill>
                <a:latin typeface="Unbounded"/>
                <a:ea typeface="Unbounded"/>
                <a:cs typeface="Unbounded"/>
                <a:sym typeface="Unbounded"/>
              </a:rPr>
              <a:t>GoRent</a:t>
            </a:r>
            <a:endParaRPr b="1" i="0" sz="6600" u="none" cap="none" strike="noStrike"/>
          </a:p>
        </p:txBody>
      </p:sp>
      <p:sp>
        <p:nvSpPr>
          <p:cNvPr id="57" name="Google Shape;57;p13"/>
          <p:cNvSpPr/>
          <p:nvPr/>
        </p:nvSpPr>
        <p:spPr>
          <a:xfrm>
            <a:off x="3580950" y="1964250"/>
            <a:ext cx="7468500" cy="5367000"/>
          </a:xfrm>
          <a:prstGeom prst="rect">
            <a:avLst/>
          </a:prstGeom>
          <a:noFill/>
          <a:ln>
            <a:noFill/>
          </a:ln>
        </p:spPr>
        <p:txBody>
          <a:bodyPr anchorCtr="0" anchor="t" bIns="0" lIns="0" spcFirstLastPara="1" rIns="0" wrap="square" tIns="0">
            <a:noAutofit/>
          </a:bodyPr>
          <a:lstStyle/>
          <a:p>
            <a:pPr indent="0" lvl="0" marL="0" marR="0" rtl="0" algn="ctr">
              <a:lnSpc>
                <a:spcPct val="162162"/>
              </a:lnSpc>
              <a:spcBef>
                <a:spcPts val="0"/>
              </a:spcBef>
              <a:spcAft>
                <a:spcPts val="0"/>
              </a:spcAft>
              <a:buClr>
                <a:srgbClr val="CAD6DE"/>
              </a:buClr>
              <a:buSzPts val="1850"/>
              <a:buFont typeface="Cabin"/>
              <a:buNone/>
            </a:pPr>
            <a:r>
              <a:rPr b="1" i="1" lang="en-US" sz="4000">
                <a:solidFill>
                  <a:srgbClr val="CAD6DE"/>
                </a:solidFill>
                <a:latin typeface="Cabin"/>
                <a:ea typeface="Cabin"/>
                <a:cs typeface="Cabin"/>
                <a:sym typeface="Cabin"/>
              </a:rPr>
              <a:t>Team 7777</a:t>
            </a:r>
            <a:endParaRPr b="1" i="1" sz="4000">
              <a:solidFill>
                <a:srgbClr val="CAD6DE"/>
              </a:solidFill>
              <a:latin typeface="Cabin"/>
              <a:ea typeface="Cabin"/>
              <a:cs typeface="Cabin"/>
              <a:sym typeface="Cabin"/>
            </a:endParaRPr>
          </a:p>
          <a:p>
            <a:pPr indent="0" lvl="0" marL="457200" marR="0" rtl="0" algn="ctr">
              <a:lnSpc>
                <a:spcPct val="162162"/>
              </a:lnSpc>
              <a:spcBef>
                <a:spcPts val="0"/>
              </a:spcBef>
              <a:spcAft>
                <a:spcPts val="0"/>
              </a:spcAft>
              <a:buNone/>
            </a:pPr>
            <a:r>
              <a:rPr lang="en-US" sz="3000">
                <a:solidFill>
                  <a:srgbClr val="CAD6DE"/>
                </a:solidFill>
                <a:latin typeface="Cabin"/>
                <a:ea typeface="Cabin"/>
                <a:cs typeface="Cabin"/>
                <a:sym typeface="Cabin"/>
              </a:rPr>
              <a:t>Guillermo Mora</a:t>
            </a:r>
            <a:endParaRPr sz="3000">
              <a:solidFill>
                <a:srgbClr val="CAD6DE"/>
              </a:solidFill>
              <a:latin typeface="Cabin"/>
              <a:ea typeface="Cabin"/>
              <a:cs typeface="Cabin"/>
              <a:sym typeface="Cabin"/>
            </a:endParaRPr>
          </a:p>
          <a:p>
            <a:pPr indent="0" lvl="0" marL="457200" marR="0" rtl="0" algn="ctr">
              <a:lnSpc>
                <a:spcPct val="162162"/>
              </a:lnSpc>
              <a:spcBef>
                <a:spcPts val="0"/>
              </a:spcBef>
              <a:spcAft>
                <a:spcPts val="0"/>
              </a:spcAft>
              <a:buNone/>
            </a:pPr>
            <a:r>
              <a:rPr lang="en-US" sz="3000">
                <a:solidFill>
                  <a:srgbClr val="CAD6DE"/>
                </a:solidFill>
                <a:latin typeface="Cabin"/>
                <a:ea typeface="Cabin"/>
                <a:cs typeface="Cabin"/>
                <a:sym typeface="Cabin"/>
              </a:rPr>
              <a:t>Tyler Rosa</a:t>
            </a:r>
            <a:endParaRPr sz="3000">
              <a:solidFill>
                <a:srgbClr val="CAD6DE"/>
              </a:solidFill>
              <a:latin typeface="Cabin"/>
              <a:ea typeface="Cabin"/>
              <a:cs typeface="Cabin"/>
              <a:sym typeface="Cabin"/>
            </a:endParaRPr>
          </a:p>
          <a:p>
            <a:pPr indent="0" lvl="0" marL="457200" marR="0" rtl="0" algn="ctr">
              <a:lnSpc>
                <a:spcPct val="162162"/>
              </a:lnSpc>
              <a:spcBef>
                <a:spcPts val="0"/>
              </a:spcBef>
              <a:spcAft>
                <a:spcPts val="0"/>
              </a:spcAft>
              <a:buNone/>
            </a:pPr>
            <a:r>
              <a:rPr lang="en-US" sz="3000">
                <a:solidFill>
                  <a:srgbClr val="CAD6DE"/>
                </a:solidFill>
                <a:latin typeface="Cabin"/>
                <a:ea typeface="Cabin"/>
                <a:cs typeface="Cabin"/>
                <a:sym typeface="Cabin"/>
              </a:rPr>
              <a:t>Mim Dey</a:t>
            </a:r>
            <a:endParaRPr sz="3000">
              <a:solidFill>
                <a:srgbClr val="CAD6DE"/>
              </a:solidFill>
              <a:latin typeface="Cabin"/>
              <a:ea typeface="Cabin"/>
              <a:cs typeface="Cabin"/>
              <a:sym typeface="Cabin"/>
            </a:endParaRPr>
          </a:p>
          <a:p>
            <a:pPr indent="0" lvl="0" marL="457200" marR="0" rtl="0" algn="ctr">
              <a:lnSpc>
                <a:spcPct val="162162"/>
              </a:lnSpc>
              <a:spcBef>
                <a:spcPts val="0"/>
              </a:spcBef>
              <a:spcAft>
                <a:spcPts val="0"/>
              </a:spcAft>
              <a:buNone/>
            </a:pPr>
            <a:r>
              <a:rPr lang="en-US" sz="3000">
                <a:solidFill>
                  <a:srgbClr val="CAD6DE"/>
                </a:solidFill>
                <a:latin typeface="Cabin"/>
                <a:ea typeface="Cabin"/>
                <a:cs typeface="Cabin"/>
                <a:sym typeface="Cabin"/>
              </a:rPr>
              <a:t>Thierno Sow</a:t>
            </a:r>
            <a:endParaRPr sz="3000">
              <a:solidFill>
                <a:srgbClr val="CAD6DE"/>
              </a:solidFill>
              <a:latin typeface="Cabin"/>
              <a:ea typeface="Cabin"/>
              <a:cs typeface="Cabin"/>
              <a:sym typeface="Cabin"/>
            </a:endParaRPr>
          </a:p>
          <a:p>
            <a:pPr indent="0" lvl="0" marL="457200" marR="0" rtl="0" algn="ctr">
              <a:lnSpc>
                <a:spcPct val="162162"/>
              </a:lnSpc>
              <a:spcBef>
                <a:spcPts val="0"/>
              </a:spcBef>
              <a:spcAft>
                <a:spcPts val="0"/>
              </a:spcAft>
              <a:buNone/>
            </a:pPr>
            <a:r>
              <a:rPr lang="en-US" sz="3000">
                <a:solidFill>
                  <a:srgbClr val="CAD6DE"/>
                </a:solidFill>
                <a:latin typeface="Cabin"/>
                <a:ea typeface="Cabin"/>
                <a:cs typeface="Cabin"/>
                <a:sym typeface="Cabin"/>
              </a:rPr>
              <a:t>Muhammad Tufail</a:t>
            </a:r>
            <a:endParaRPr sz="3000">
              <a:solidFill>
                <a:srgbClr val="CAD6DE"/>
              </a:solidFill>
              <a:latin typeface="Cabin"/>
              <a:ea typeface="Cabin"/>
              <a:cs typeface="Cabin"/>
              <a:sym typeface="Cabin"/>
            </a:endParaRPr>
          </a:p>
          <a:p>
            <a:pPr indent="0" lvl="0" marL="457200" marR="0" rtl="0" algn="ctr">
              <a:lnSpc>
                <a:spcPct val="162162"/>
              </a:lnSpc>
              <a:spcBef>
                <a:spcPts val="0"/>
              </a:spcBef>
              <a:spcAft>
                <a:spcPts val="0"/>
              </a:spcAft>
              <a:buNone/>
            </a:pPr>
            <a:r>
              <a:rPr lang="en-US" sz="3000">
                <a:solidFill>
                  <a:srgbClr val="CAD6DE"/>
                </a:solidFill>
                <a:latin typeface="Cabin"/>
                <a:ea typeface="Cabin"/>
                <a:cs typeface="Cabin"/>
                <a:sym typeface="Cabin"/>
              </a:rPr>
              <a:t>Rishika Datta</a:t>
            </a:r>
            <a:endParaRPr sz="3000">
              <a:solidFill>
                <a:srgbClr val="CAD6DE"/>
              </a:solidFill>
              <a:latin typeface="Cabin"/>
              <a:ea typeface="Cabin"/>
              <a:cs typeface="Cabin"/>
              <a:sym typeface="Cabin"/>
            </a:endParaRPr>
          </a:p>
        </p:txBody>
      </p:sp>
      <p:sp>
        <p:nvSpPr>
          <p:cNvPr id="58" name="Google Shape;58;p13"/>
          <p:cNvSpPr/>
          <p:nvPr/>
        </p:nvSpPr>
        <p:spPr>
          <a:xfrm>
            <a:off x="12763600" y="7679625"/>
            <a:ext cx="1770600" cy="462900"/>
          </a:xfrm>
          <a:prstGeom prst="rect">
            <a:avLst/>
          </a:prstGeom>
          <a:solidFill>
            <a:srgbClr val="112836"/>
          </a:solidFill>
          <a:ln cap="flat" cmpd="sng" w="9525">
            <a:solidFill>
              <a:srgbClr val="1128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preencoded.png" id="64" name="Google Shape;64;p1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65" name="Google Shape;65;p14"/>
          <p:cNvSpPr/>
          <p:nvPr/>
        </p:nvSpPr>
        <p:spPr>
          <a:xfrm>
            <a:off x="623800" y="394449"/>
            <a:ext cx="7303800" cy="864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Unbounded"/>
              <a:buNone/>
            </a:pPr>
            <a:r>
              <a:rPr lang="en-US" sz="4400">
                <a:solidFill>
                  <a:srgbClr val="FFFFFF"/>
                </a:solidFill>
                <a:latin typeface="Unbounded"/>
                <a:ea typeface="Unbounded"/>
                <a:cs typeface="Unbounded"/>
                <a:sym typeface="Unbounded"/>
              </a:rPr>
              <a:t>What is our app?</a:t>
            </a:r>
            <a:endParaRPr b="0" i="0" sz="4400" u="none" cap="none" strike="noStrike"/>
          </a:p>
        </p:txBody>
      </p:sp>
      <p:sp>
        <p:nvSpPr>
          <p:cNvPr id="66" name="Google Shape;66;p14"/>
          <p:cNvSpPr/>
          <p:nvPr/>
        </p:nvSpPr>
        <p:spPr>
          <a:xfrm>
            <a:off x="935200" y="1598100"/>
            <a:ext cx="6816300" cy="60654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lang="en-US" sz="2400">
                <a:solidFill>
                  <a:schemeClr val="lt1"/>
                </a:solidFill>
                <a:latin typeface="Cabin"/>
                <a:ea typeface="Cabin"/>
                <a:cs typeface="Cabin"/>
                <a:sym typeface="Cabin"/>
              </a:rPr>
              <a:t>A peer-to-peer platform that connects car owners with renters seeking flexible, affordable vehicle access. The platform allows owners to monetize  vehicles while giving renters diverse and accessible transportation options, effectively bridging supply and demand in the transportation economy.</a:t>
            </a:r>
            <a:endParaRPr sz="1850">
              <a:solidFill>
                <a:srgbClr val="CAD6DE"/>
              </a:solidFill>
              <a:latin typeface="Cabin"/>
              <a:ea typeface="Cabin"/>
              <a:cs typeface="Cabin"/>
              <a:sym typeface="Cabi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p:nvPr/>
        </p:nvSpPr>
        <p:spPr>
          <a:xfrm>
            <a:off x="623800" y="394449"/>
            <a:ext cx="7303800" cy="864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Unbounded"/>
              <a:buNone/>
            </a:pPr>
            <a:r>
              <a:rPr lang="en-US" sz="4400">
                <a:solidFill>
                  <a:srgbClr val="FFFFFF"/>
                </a:solidFill>
                <a:latin typeface="Unbounded"/>
                <a:ea typeface="Unbounded"/>
                <a:cs typeface="Unbounded"/>
                <a:sym typeface="Unbounded"/>
              </a:rPr>
              <a:t>Who needs it?</a:t>
            </a:r>
            <a:endParaRPr b="0" i="0" sz="4400" u="none" cap="none" strike="noStrike"/>
          </a:p>
        </p:txBody>
      </p:sp>
      <p:sp>
        <p:nvSpPr>
          <p:cNvPr id="73" name="Google Shape;73;p15"/>
          <p:cNvSpPr/>
          <p:nvPr/>
        </p:nvSpPr>
        <p:spPr>
          <a:xfrm>
            <a:off x="623800" y="1459675"/>
            <a:ext cx="7895100" cy="6405000"/>
          </a:xfrm>
          <a:prstGeom prst="rect">
            <a:avLst/>
          </a:prstGeom>
          <a:noFill/>
          <a:ln>
            <a:noFill/>
          </a:ln>
        </p:spPr>
        <p:txBody>
          <a:bodyPr anchorCtr="0" anchor="t" bIns="0" lIns="0" spcFirstLastPara="1" rIns="0" wrap="square" tIns="0">
            <a:noAutofit/>
          </a:bodyPr>
          <a:lstStyle/>
          <a:p>
            <a:pPr indent="0" lvl="0" marL="0" rtl="0" algn="l">
              <a:lnSpc>
                <a:spcPct val="162162"/>
              </a:lnSpc>
              <a:spcBef>
                <a:spcPts val="0"/>
              </a:spcBef>
              <a:spcAft>
                <a:spcPts val="0"/>
              </a:spcAft>
              <a:buClr>
                <a:schemeClr val="dk1"/>
              </a:buClr>
              <a:buSzPts val="1100"/>
              <a:buFont typeface="Arial"/>
              <a:buNone/>
            </a:pPr>
            <a:r>
              <a:rPr b="1" lang="en-US" sz="2300">
                <a:solidFill>
                  <a:schemeClr val="lt1"/>
                </a:solidFill>
                <a:latin typeface="Cabin"/>
                <a:ea typeface="Cabin"/>
                <a:cs typeface="Cabin"/>
                <a:sym typeface="Cabin"/>
              </a:rPr>
              <a:t>Tourists</a:t>
            </a:r>
            <a:r>
              <a:rPr lang="en-US" sz="2300">
                <a:solidFill>
                  <a:schemeClr val="lt1"/>
                </a:solidFill>
                <a:latin typeface="Cabin"/>
                <a:ea typeface="Cabin"/>
                <a:cs typeface="Cabin"/>
                <a:sym typeface="Cabin"/>
              </a:rPr>
              <a:t> – need a car during trips</a:t>
            </a:r>
            <a:br>
              <a:rPr lang="en-US" sz="2300">
                <a:solidFill>
                  <a:schemeClr val="lt1"/>
                </a:solidFill>
                <a:latin typeface="Cabin"/>
                <a:ea typeface="Cabin"/>
                <a:cs typeface="Cabin"/>
                <a:sym typeface="Cabin"/>
              </a:rPr>
            </a:br>
            <a:endParaRPr sz="2300">
              <a:solidFill>
                <a:schemeClr val="lt1"/>
              </a:solidFill>
              <a:latin typeface="Cabin"/>
              <a:ea typeface="Cabin"/>
              <a:cs typeface="Cabin"/>
              <a:sym typeface="Cabin"/>
            </a:endParaRPr>
          </a:p>
          <a:p>
            <a:pPr indent="0" lvl="0" marL="0" rtl="0" algn="l">
              <a:lnSpc>
                <a:spcPct val="162162"/>
              </a:lnSpc>
              <a:spcBef>
                <a:spcPts val="0"/>
              </a:spcBef>
              <a:spcAft>
                <a:spcPts val="0"/>
              </a:spcAft>
              <a:buClr>
                <a:schemeClr val="dk1"/>
              </a:buClr>
              <a:buSzPts val="1100"/>
              <a:buFont typeface="Arial"/>
              <a:buNone/>
            </a:pPr>
            <a:r>
              <a:rPr b="1" lang="en-US" sz="2300">
                <a:solidFill>
                  <a:schemeClr val="lt1"/>
                </a:solidFill>
                <a:latin typeface="Cabin"/>
                <a:ea typeface="Cabin"/>
                <a:cs typeface="Cabin"/>
                <a:sym typeface="Cabin"/>
              </a:rPr>
              <a:t>People without a car</a:t>
            </a:r>
            <a:r>
              <a:rPr lang="en-US" sz="2300">
                <a:solidFill>
                  <a:schemeClr val="lt1"/>
                </a:solidFill>
                <a:latin typeface="Cabin"/>
                <a:ea typeface="Cabin"/>
                <a:cs typeface="Cabin"/>
                <a:sym typeface="Cabin"/>
              </a:rPr>
              <a:t> – occasional transportation</a:t>
            </a:r>
            <a:br>
              <a:rPr lang="en-US" sz="2300">
                <a:solidFill>
                  <a:schemeClr val="lt1"/>
                </a:solidFill>
                <a:latin typeface="Cabin"/>
                <a:ea typeface="Cabin"/>
                <a:cs typeface="Cabin"/>
                <a:sym typeface="Cabin"/>
              </a:rPr>
            </a:br>
            <a:endParaRPr sz="2300">
              <a:solidFill>
                <a:schemeClr val="lt1"/>
              </a:solidFill>
              <a:latin typeface="Cabin"/>
              <a:ea typeface="Cabin"/>
              <a:cs typeface="Cabin"/>
              <a:sym typeface="Cabin"/>
            </a:endParaRPr>
          </a:p>
          <a:p>
            <a:pPr indent="0" lvl="0" marL="0" rtl="0" algn="l">
              <a:lnSpc>
                <a:spcPct val="162162"/>
              </a:lnSpc>
              <a:spcBef>
                <a:spcPts val="0"/>
              </a:spcBef>
              <a:spcAft>
                <a:spcPts val="0"/>
              </a:spcAft>
              <a:buClr>
                <a:schemeClr val="dk1"/>
              </a:buClr>
              <a:buSzPts val="1100"/>
              <a:buFont typeface="Arial"/>
              <a:buNone/>
            </a:pPr>
            <a:r>
              <a:rPr b="1" lang="en-US" sz="2300">
                <a:solidFill>
                  <a:schemeClr val="lt1"/>
                </a:solidFill>
                <a:latin typeface="Cabin"/>
                <a:ea typeface="Cabin"/>
                <a:cs typeface="Cabin"/>
                <a:sym typeface="Cabin"/>
              </a:rPr>
              <a:t>Car Owners</a:t>
            </a:r>
            <a:r>
              <a:rPr lang="en-US" sz="2300">
                <a:solidFill>
                  <a:schemeClr val="lt1"/>
                </a:solidFill>
                <a:latin typeface="Cabin"/>
                <a:ea typeface="Cabin"/>
                <a:cs typeface="Cabin"/>
                <a:sym typeface="Cabin"/>
              </a:rPr>
              <a:t> – earn money by renting unused cars</a:t>
            </a:r>
            <a:endParaRPr sz="2300">
              <a:solidFill>
                <a:schemeClr val="lt1"/>
              </a:solidFill>
              <a:latin typeface="Cabin"/>
              <a:ea typeface="Cabin"/>
              <a:cs typeface="Cabin"/>
              <a:sym typeface="Cabin"/>
            </a:endParaRPr>
          </a:p>
          <a:p>
            <a:pPr indent="0" lvl="0" marL="0" rtl="0" algn="l">
              <a:lnSpc>
                <a:spcPct val="162162"/>
              </a:lnSpc>
              <a:spcBef>
                <a:spcPts val="0"/>
              </a:spcBef>
              <a:spcAft>
                <a:spcPts val="0"/>
              </a:spcAft>
              <a:buClr>
                <a:schemeClr val="dk1"/>
              </a:buClr>
              <a:buSzPts val="1100"/>
              <a:buFont typeface="Arial"/>
              <a:buNone/>
            </a:pPr>
            <a:r>
              <a:t/>
            </a:r>
            <a:endParaRPr sz="2300">
              <a:solidFill>
                <a:schemeClr val="lt1"/>
              </a:solidFill>
              <a:latin typeface="Cabin"/>
              <a:ea typeface="Cabin"/>
              <a:cs typeface="Cabin"/>
              <a:sym typeface="Cabin"/>
            </a:endParaRPr>
          </a:p>
          <a:p>
            <a:pPr indent="0" lvl="0" marL="0" rtl="0" algn="l">
              <a:lnSpc>
                <a:spcPct val="162162"/>
              </a:lnSpc>
              <a:spcBef>
                <a:spcPts val="0"/>
              </a:spcBef>
              <a:spcAft>
                <a:spcPts val="0"/>
              </a:spcAft>
              <a:buClr>
                <a:schemeClr val="dk1"/>
              </a:buClr>
              <a:buSzPts val="1100"/>
              <a:buFont typeface="Arial"/>
              <a:buNone/>
            </a:pPr>
            <a:r>
              <a:rPr b="1" lang="en-US" sz="2300">
                <a:solidFill>
                  <a:schemeClr val="lt1"/>
                </a:solidFill>
                <a:latin typeface="Cabin"/>
                <a:ea typeface="Cabin"/>
                <a:cs typeface="Cabin"/>
                <a:sym typeface="Cabin"/>
              </a:rPr>
              <a:t>Businesses &amp; Workers</a:t>
            </a:r>
            <a:r>
              <a:rPr lang="en-US" sz="2300">
                <a:solidFill>
                  <a:schemeClr val="lt1"/>
                </a:solidFill>
                <a:latin typeface="Cabin"/>
                <a:ea typeface="Cabin"/>
                <a:cs typeface="Cabin"/>
                <a:sym typeface="Cabin"/>
              </a:rPr>
              <a:t> – temporary vehicles for work</a:t>
            </a:r>
            <a:endParaRPr sz="3000">
              <a:solidFill>
                <a:schemeClr val="lt1"/>
              </a:solidFill>
              <a:latin typeface="Cabin"/>
              <a:ea typeface="Cabin"/>
              <a:cs typeface="Cabin"/>
              <a:sym typeface="Cabin"/>
            </a:endParaRPr>
          </a:p>
          <a:p>
            <a:pPr indent="0" lvl="0" marL="0" rtl="0" algn="l">
              <a:lnSpc>
                <a:spcPct val="162162"/>
              </a:lnSpc>
              <a:spcBef>
                <a:spcPts val="0"/>
              </a:spcBef>
              <a:spcAft>
                <a:spcPts val="0"/>
              </a:spcAft>
              <a:buClr>
                <a:schemeClr val="dk1"/>
              </a:buClr>
              <a:buSzPts val="1100"/>
              <a:buFont typeface="Arial"/>
              <a:buNone/>
            </a:pPr>
            <a:r>
              <a:t/>
            </a:r>
            <a:endParaRPr sz="1600">
              <a:solidFill>
                <a:schemeClr val="lt1"/>
              </a:solidFill>
              <a:latin typeface="Cabin"/>
              <a:ea typeface="Cabin"/>
              <a:cs typeface="Cabin"/>
              <a:sym typeface="Cabin"/>
            </a:endParaRPr>
          </a:p>
          <a:p>
            <a:pPr indent="0" lvl="0" marL="0" rtl="0" algn="l">
              <a:lnSpc>
                <a:spcPct val="162162"/>
              </a:lnSpc>
              <a:spcBef>
                <a:spcPts val="0"/>
              </a:spcBef>
              <a:spcAft>
                <a:spcPts val="0"/>
              </a:spcAft>
              <a:buClr>
                <a:schemeClr val="dk1"/>
              </a:buClr>
              <a:buSzPts val="1100"/>
              <a:buFont typeface="Arial"/>
              <a:buNone/>
            </a:pPr>
            <a:br>
              <a:rPr lang="en-US" sz="1600">
                <a:solidFill>
                  <a:schemeClr val="lt1"/>
                </a:solidFill>
                <a:latin typeface="Cabin"/>
                <a:ea typeface="Cabin"/>
                <a:cs typeface="Cabin"/>
                <a:sym typeface="Cabin"/>
              </a:rPr>
            </a:br>
            <a:endParaRPr sz="1600">
              <a:solidFill>
                <a:schemeClr val="lt1"/>
              </a:solidFill>
              <a:latin typeface="Cabin"/>
              <a:ea typeface="Cabin"/>
              <a:cs typeface="Cabin"/>
              <a:sym typeface="Cabin"/>
            </a:endParaRPr>
          </a:p>
          <a:p>
            <a:pPr indent="0" lvl="0" marL="0" marR="0" rtl="0" algn="l">
              <a:lnSpc>
                <a:spcPct val="162162"/>
              </a:lnSpc>
              <a:spcBef>
                <a:spcPts val="0"/>
              </a:spcBef>
              <a:spcAft>
                <a:spcPts val="0"/>
              </a:spcAft>
              <a:buClr>
                <a:srgbClr val="CAD6DE"/>
              </a:buClr>
              <a:buSzPts val="1850"/>
              <a:buFont typeface="Cabin"/>
              <a:buNone/>
            </a:pPr>
            <a:r>
              <a:t/>
            </a:r>
            <a:endParaRPr sz="1850">
              <a:solidFill>
                <a:srgbClr val="CAD6DE"/>
              </a:solidFill>
              <a:latin typeface="Cabin"/>
              <a:ea typeface="Cabin"/>
              <a:cs typeface="Cabin"/>
              <a:sym typeface="Cabin"/>
            </a:endParaRPr>
          </a:p>
        </p:txBody>
      </p:sp>
      <p:pic>
        <p:nvPicPr>
          <p:cNvPr descr="preencoded.png" id="74" name="Google Shape;74;p1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preencoded.png" id="80" name="Google Shape;80;p16"/>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81" name="Google Shape;81;p16"/>
          <p:cNvSpPr/>
          <p:nvPr/>
        </p:nvSpPr>
        <p:spPr>
          <a:xfrm>
            <a:off x="6207919" y="717828"/>
            <a:ext cx="5329476" cy="60626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3800"/>
              <a:buFont typeface="Unbounded"/>
              <a:buNone/>
            </a:pPr>
            <a:r>
              <a:rPr b="0" i="0" lang="en-US" sz="3800" u="none" cap="none" strike="noStrike">
                <a:solidFill>
                  <a:srgbClr val="FFFFFF"/>
                </a:solidFill>
                <a:latin typeface="Unbounded"/>
                <a:ea typeface="Unbounded"/>
                <a:cs typeface="Unbounded"/>
                <a:sym typeface="Unbounded"/>
              </a:rPr>
              <a:t>Platform Features</a:t>
            </a:r>
            <a:endParaRPr b="0" i="0" sz="3800" u="none" cap="none" strike="noStrike"/>
          </a:p>
        </p:txBody>
      </p:sp>
      <p:sp>
        <p:nvSpPr>
          <p:cNvPr id="82" name="Google Shape;82;p16"/>
          <p:cNvSpPr/>
          <p:nvPr/>
        </p:nvSpPr>
        <p:spPr>
          <a:xfrm>
            <a:off x="6207951" y="1590325"/>
            <a:ext cx="1086000" cy="257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AD6DE"/>
              </a:buClr>
              <a:buSzPts val="1600"/>
              <a:buFont typeface="Unbounded"/>
              <a:buNone/>
            </a:pPr>
            <a:r>
              <a:rPr b="0" i="0" lang="en-US" sz="1600" u="none" cap="none" strike="noStrike">
                <a:solidFill>
                  <a:srgbClr val="CAD6DE"/>
                </a:solidFill>
                <a:latin typeface="Unbounded"/>
                <a:ea typeface="Unbounded"/>
                <a:cs typeface="Unbounded"/>
                <a:sym typeface="Unbounded"/>
              </a:rPr>
              <a:t>01</a:t>
            </a:r>
            <a:endParaRPr b="0" i="0" sz="1600" u="none" cap="none" strike="noStrike"/>
          </a:p>
        </p:txBody>
      </p:sp>
      <p:sp>
        <p:nvSpPr>
          <p:cNvPr id="83" name="Google Shape;83;p16"/>
          <p:cNvSpPr/>
          <p:nvPr/>
        </p:nvSpPr>
        <p:spPr>
          <a:xfrm>
            <a:off x="6207919" y="1917740"/>
            <a:ext cx="7700963" cy="2286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6"/>
          <p:cNvSpPr/>
          <p:nvPr/>
        </p:nvSpPr>
        <p:spPr>
          <a:xfrm>
            <a:off x="6207927" y="2066450"/>
            <a:ext cx="5971200" cy="3030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CAD6DE"/>
              </a:buClr>
              <a:buSzPts val="1900"/>
              <a:buFont typeface="Unbounded"/>
              <a:buNone/>
            </a:pPr>
            <a:r>
              <a:rPr b="0" i="0" lang="en-US" sz="1900" u="none" cap="none" strike="noStrike">
                <a:solidFill>
                  <a:srgbClr val="CAD6DE"/>
                </a:solidFill>
                <a:latin typeface="Unbounded"/>
                <a:ea typeface="Unbounded"/>
                <a:cs typeface="Unbounded"/>
                <a:sym typeface="Unbounded"/>
              </a:rPr>
              <a:t>User Registration &amp; Verification</a:t>
            </a:r>
            <a:endParaRPr b="0" i="0" sz="1900" u="none" cap="none" strike="noStrike"/>
          </a:p>
        </p:txBody>
      </p:sp>
      <p:sp>
        <p:nvSpPr>
          <p:cNvPr id="85" name="Google Shape;85;p16"/>
          <p:cNvSpPr/>
          <p:nvPr/>
        </p:nvSpPr>
        <p:spPr>
          <a:xfrm>
            <a:off x="6207919" y="2476024"/>
            <a:ext cx="7700963" cy="3069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AD6DE"/>
              </a:buClr>
              <a:buSzPts val="1600"/>
              <a:buFont typeface="Cabin"/>
              <a:buNone/>
            </a:pPr>
            <a:r>
              <a:rPr b="0" i="0" lang="en-US" sz="1600" u="none" cap="none" strike="noStrike">
                <a:solidFill>
                  <a:srgbClr val="CAD6DE"/>
                </a:solidFill>
                <a:latin typeface="Cabin"/>
                <a:ea typeface="Cabin"/>
                <a:cs typeface="Cabin"/>
                <a:sym typeface="Cabin"/>
              </a:rPr>
              <a:t>Secure account creation with age and identity validation</a:t>
            </a:r>
            <a:endParaRPr b="0" i="0" sz="1600" u="none" cap="none" strike="noStrike"/>
          </a:p>
        </p:txBody>
      </p:sp>
      <p:sp>
        <p:nvSpPr>
          <p:cNvPr id="86" name="Google Shape;86;p16"/>
          <p:cNvSpPr/>
          <p:nvPr/>
        </p:nvSpPr>
        <p:spPr>
          <a:xfrm>
            <a:off x="6207953" y="3115025"/>
            <a:ext cx="1086000" cy="257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AD6DE"/>
              </a:buClr>
              <a:buSzPts val="1600"/>
              <a:buFont typeface="Unbounded"/>
              <a:buNone/>
            </a:pPr>
            <a:r>
              <a:rPr b="0" i="0" lang="en-US" sz="1600" u="none" cap="none" strike="noStrike">
                <a:solidFill>
                  <a:srgbClr val="CAD6DE"/>
                </a:solidFill>
                <a:latin typeface="Unbounded"/>
                <a:ea typeface="Unbounded"/>
                <a:cs typeface="Unbounded"/>
                <a:sym typeface="Unbounded"/>
              </a:rPr>
              <a:t>02</a:t>
            </a:r>
            <a:endParaRPr b="0" i="0" sz="1600" u="none" cap="none" strike="noStrike"/>
          </a:p>
        </p:txBody>
      </p:sp>
      <p:sp>
        <p:nvSpPr>
          <p:cNvPr id="87" name="Google Shape;87;p16"/>
          <p:cNvSpPr/>
          <p:nvPr/>
        </p:nvSpPr>
        <p:spPr>
          <a:xfrm>
            <a:off x="6207919" y="3442454"/>
            <a:ext cx="7700963" cy="2286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
          <p:cNvSpPr/>
          <p:nvPr/>
        </p:nvSpPr>
        <p:spPr>
          <a:xfrm>
            <a:off x="6207919" y="3591163"/>
            <a:ext cx="3879771" cy="303133"/>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CAD6DE"/>
              </a:buClr>
              <a:buSzPts val="1900"/>
              <a:buFont typeface="Unbounded"/>
              <a:buNone/>
            </a:pPr>
            <a:r>
              <a:rPr b="0" i="0" lang="en-US" sz="1900" u="none" cap="none" strike="noStrike">
                <a:solidFill>
                  <a:srgbClr val="CAD6DE"/>
                </a:solidFill>
                <a:latin typeface="Unbounded"/>
                <a:ea typeface="Unbounded"/>
                <a:cs typeface="Unbounded"/>
                <a:sym typeface="Unbounded"/>
              </a:rPr>
              <a:t>Vehicle Search &amp; Discovery</a:t>
            </a:r>
            <a:endParaRPr b="0" i="0" sz="1900" u="none" cap="none" strike="noStrike"/>
          </a:p>
        </p:txBody>
      </p:sp>
      <p:sp>
        <p:nvSpPr>
          <p:cNvPr id="89" name="Google Shape;89;p16"/>
          <p:cNvSpPr/>
          <p:nvPr/>
        </p:nvSpPr>
        <p:spPr>
          <a:xfrm>
            <a:off x="6207919" y="4000738"/>
            <a:ext cx="7700963" cy="3069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AD6DE"/>
              </a:buClr>
              <a:buSzPts val="1600"/>
              <a:buFont typeface="Cabin"/>
              <a:buNone/>
            </a:pPr>
            <a:r>
              <a:rPr b="0" i="0" lang="en-US" sz="1600" u="none" cap="none" strike="noStrike">
                <a:solidFill>
                  <a:srgbClr val="CAD6DE"/>
                </a:solidFill>
                <a:latin typeface="Cabin"/>
                <a:ea typeface="Cabin"/>
                <a:cs typeface="Cabin"/>
                <a:sym typeface="Cabin"/>
              </a:rPr>
              <a:t>Location-based listing search with availability filtering</a:t>
            </a:r>
            <a:endParaRPr b="0" i="0" sz="1600" u="none" cap="none" strike="noStrike"/>
          </a:p>
        </p:txBody>
      </p:sp>
      <p:sp>
        <p:nvSpPr>
          <p:cNvPr id="90" name="Google Shape;90;p16"/>
          <p:cNvSpPr/>
          <p:nvPr/>
        </p:nvSpPr>
        <p:spPr>
          <a:xfrm>
            <a:off x="6207950" y="4639750"/>
            <a:ext cx="1086000" cy="257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AD6DE"/>
              </a:buClr>
              <a:buSzPts val="1600"/>
              <a:buFont typeface="Unbounded"/>
              <a:buNone/>
            </a:pPr>
            <a:r>
              <a:rPr b="0" i="0" lang="en-US" sz="1600" u="none" cap="none" strike="noStrike">
                <a:solidFill>
                  <a:srgbClr val="CAD6DE"/>
                </a:solidFill>
                <a:latin typeface="Unbounded"/>
                <a:ea typeface="Unbounded"/>
                <a:cs typeface="Unbounded"/>
                <a:sym typeface="Unbounded"/>
              </a:rPr>
              <a:t>03</a:t>
            </a:r>
            <a:endParaRPr b="0" i="0" sz="1600" u="none" cap="none" strike="noStrike"/>
          </a:p>
        </p:txBody>
      </p:sp>
      <p:sp>
        <p:nvSpPr>
          <p:cNvPr id="91" name="Google Shape;91;p16"/>
          <p:cNvSpPr/>
          <p:nvPr/>
        </p:nvSpPr>
        <p:spPr>
          <a:xfrm>
            <a:off x="6207919" y="4967168"/>
            <a:ext cx="7700963" cy="2286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p:nvPr/>
        </p:nvSpPr>
        <p:spPr>
          <a:xfrm>
            <a:off x="6207919" y="5115878"/>
            <a:ext cx="3212663" cy="303133"/>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CAD6DE"/>
              </a:buClr>
              <a:buSzPts val="1900"/>
              <a:buFont typeface="Unbounded"/>
              <a:buNone/>
            </a:pPr>
            <a:r>
              <a:rPr b="0" i="0" lang="en-US" sz="1900" u="none" cap="none" strike="noStrike">
                <a:solidFill>
                  <a:srgbClr val="CAD6DE"/>
                </a:solidFill>
                <a:latin typeface="Unbounded"/>
                <a:ea typeface="Unbounded"/>
                <a:cs typeface="Unbounded"/>
                <a:sym typeface="Unbounded"/>
              </a:rPr>
              <a:t>Booking Management</a:t>
            </a:r>
            <a:endParaRPr b="0" i="0" sz="1900" u="none" cap="none" strike="noStrike"/>
          </a:p>
        </p:txBody>
      </p:sp>
      <p:sp>
        <p:nvSpPr>
          <p:cNvPr id="93" name="Google Shape;93;p16"/>
          <p:cNvSpPr/>
          <p:nvPr/>
        </p:nvSpPr>
        <p:spPr>
          <a:xfrm>
            <a:off x="6207919" y="5525453"/>
            <a:ext cx="7700963" cy="3069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AD6DE"/>
              </a:buClr>
              <a:buSzPts val="1600"/>
              <a:buFont typeface="Cabin"/>
              <a:buNone/>
            </a:pPr>
            <a:r>
              <a:rPr b="0" i="0" lang="en-US" sz="1600" u="none" cap="none" strike="noStrike">
                <a:solidFill>
                  <a:srgbClr val="CAD6DE"/>
                </a:solidFill>
                <a:latin typeface="Cabin"/>
                <a:ea typeface="Cabin"/>
                <a:cs typeface="Cabin"/>
                <a:sym typeface="Cabin"/>
              </a:rPr>
              <a:t>Timeframe selection and reservation confirmation system</a:t>
            </a:r>
            <a:endParaRPr b="0" i="0" sz="1600" u="none" cap="none" strike="noStrike"/>
          </a:p>
        </p:txBody>
      </p:sp>
      <p:sp>
        <p:nvSpPr>
          <p:cNvPr id="94" name="Google Shape;94;p16"/>
          <p:cNvSpPr/>
          <p:nvPr/>
        </p:nvSpPr>
        <p:spPr>
          <a:xfrm>
            <a:off x="6207963" y="6164450"/>
            <a:ext cx="1499400" cy="2577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AD6DE"/>
              </a:buClr>
              <a:buSzPts val="1600"/>
              <a:buFont typeface="Unbounded"/>
              <a:buNone/>
            </a:pPr>
            <a:r>
              <a:rPr b="0" i="0" lang="en-US" sz="1600" u="none" cap="none" strike="noStrike">
                <a:solidFill>
                  <a:srgbClr val="CAD6DE"/>
                </a:solidFill>
                <a:latin typeface="Unbounded"/>
                <a:ea typeface="Unbounded"/>
                <a:cs typeface="Unbounded"/>
                <a:sym typeface="Unbounded"/>
              </a:rPr>
              <a:t>04</a:t>
            </a:r>
            <a:endParaRPr b="0" i="0" sz="1600" u="none" cap="none" strike="noStrike"/>
          </a:p>
        </p:txBody>
      </p:sp>
      <p:sp>
        <p:nvSpPr>
          <p:cNvPr id="95" name="Google Shape;95;p16"/>
          <p:cNvSpPr/>
          <p:nvPr/>
        </p:nvSpPr>
        <p:spPr>
          <a:xfrm>
            <a:off x="6207919" y="6491883"/>
            <a:ext cx="7700963" cy="22860"/>
          </a:xfrm>
          <a:prstGeom prst="rect">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6207919" y="6640592"/>
            <a:ext cx="2988231" cy="303133"/>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CAD6DE"/>
              </a:buClr>
              <a:buSzPts val="1900"/>
              <a:buFont typeface="Unbounded"/>
              <a:buNone/>
            </a:pPr>
            <a:r>
              <a:rPr b="0" i="0" lang="en-US" sz="1900" u="none" cap="none" strike="noStrike">
                <a:solidFill>
                  <a:srgbClr val="CAD6DE"/>
                </a:solidFill>
                <a:latin typeface="Unbounded"/>
                <a:ea typeface="Unbounded"/>
                <a:cs typeface="Unbounded"/>
                <a:sym typeface="Unbounded"/>
              </a:rPr>
              <a:t>Payment Processing</a:t>
            </a:r>
            <a:endParaRPr b="0" i="0" sz="1900" u="none" cap="none" strike="noStrike"/>
          </a:p>
        </p:txBody>
      </p:sp>
      <p:sp>
        <p:nvSpPr>
          <p:cNvPr id="97" name="Google Shape;97;p16"/>
          <p:cNvSpPr/>
          <p:nvPr/>
        </p:nvSpPr>
        <p:spPr>
          <a:xfrm>
            <a:off x="6207919" y="7050167"/>
            <a:ext cx="7700963" cy="306943"/>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AD6DE"/>
              </a:buClr>
              <a:buSzPts val="1600"/>
              <a:buFont typeface="Cabin"/>
              <a:buNone/>
            </a:pPr>
            <a:r>
              <a:rPr b="0" i="0" lang="en-US" sz="1600" u="none" cap="none" strike="noStrike">
                <a:solidFill>
                  <a:srgbClr val="CAD6DE"/>
                </a:solidFill>
                <a:latin typeface="Cabin"/>
                <a:ea typeface="Cabin"/>
                <a:cs typeface="Cabin"/>
                <a:sym typeface="Cabin"/>
              </a:rPr>
              <a:t>Secure transactions with receipt generation and tracking</a:t>
            </a:r>
            <a:endParaRPr b="0" i="0" sz="1600" u="none" cap="none" strike="noStrike"/>
          </a:p>
        </p:txBody>
      </p:sp>
      <p:sp>
        <p:nvSpPr>
          <p:cNvPr id="98" name="Google Shape;98;p16"/>
          <p:cNvSpPr/>
          <p:nvPr/>
        </p:nvSpPr>
        <p:spPr>
          <a:xfrm>
            <a:off x="12763600" y="7679625"/>
            <a:ext cx="1770600" cy="462900"/>
          </a:xfrm>
          <a:prstGeom prst="rect">
            <a:avLst/>
          </a:prstGeom>
          <a:solidFill>
            <a:srgbClr val="112836"/>
          </a:solidFill>
          <a:ln cap="flat" cmpd="sng" w="9525">
            <a:solidFill>
              <a:srgbClr val="1128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nvSpPr>
        <p:spPr>
          <a:xfrm>
            <a:off x="403450" y="160675"/>
            <a:ext cx="91488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lt1"/>
                </a:solidFill>
                <a:latin typeface="Unbounded"/>
                <a:ea typeface="Unbounded"/>
                <a:cs typeface="Unbounded"/>
                <a:sym typeface="Unbounded"/>
              </a:rPr>
              <a:t>Functional Use Cases</a:t>
            </a:r>
            <a:endParaRPr sz="4400">
              <a:solidFill>
                <a:schemeClr val="lt1"/>
              </a:solidFill>
              <a:latin typeface="Unbounded"/>
              <a:ea typeface="Unbounded"/>
              <a:cs typeface="Unbounded"/>
              <a:sym typeface="Unbounded"/>
            </a:endParaRPr>
          </a:p>
        </p:txBody>
      </p:sp>
      <p:pic>
        <p:nvPicPr>
          <p:cNvPr id="105" name="Google Shape;105;p17"/>
          <p:cNvPicPr preferRelativeResize="0"/>
          <p:nvPr/>
        </p:nvPicPr>
        <p:blipFill rotWithShape="1">
          <a:blip r:embed="rId3">
            <a:alphaModFix/>
          </a:blip>
          <a:srcRect b="58368" l="0" r="0" t="0"/>
          <a:stretch/>
        </p:blipFill>
        <p:spPr>
          <a:xfrm>
            <a:off x="282650" y="1243925"/>
            <a:ext cx="6781724" cy="4731398"/>
          </a:xfrm>
          <a:prstGeom prst="rect">
            <a:avLst/>
          </a:prstGeom>
          <a:noFill/>
          <a:ln>
            <a:noFill/>
          </a:ln>
        </p:spPr>
      </p:pic>
      <p:sp>
        <p:nvSpPr>
          <p:cNvPr id="106" name="Google Shape;106;p17"/>
          <p:cNvSpPr/>
          <p:nvPr/>
        </p:nvSpPr>
        <p:spPr>
          <a:xfrm>
            <a:off x="12763600" y="7679625"/>
            <a:ext cx="1770600" cy="462900"/>
          </a:xfrm>
          <a:prstGeom prst="rect">
            <a:avLst/>
          </a:prstGeom>
          <a:solidFill>
            <a:srgbClr val="112836"/>
          </a:solidFill>
          <a:ln cap="flat" cmpd="sng" w="9525">
            <a:solidFill>
              <a:srgbClr val="1128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7" name="Google Shape;107;p17"/>
          <p:cNvPicPr preferRelativeResize="0"/>
          <p:nvPr/>
        </p:nvPicPr>
        <p:blipFill>
          <a:blip r:embed="rId4">
            <a:alphaModFix/>
          </a:blip>
          <a:stretch>
            <a:fillRect/>
          </a:stretch>
        </p:blipFill>
        <p:spPr>
          <a:xfrm>
            <a:off x="7486525" y="2703925"/>
            <a:ext cx="6781724" cy="4731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nvSpPr>
        <p:spPr>
          <a:xfrm>
            <a:off x="403450" y="362025"/>
            <a:ext cx="91488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400">
                <a:solidFill>
                  <a:schemeClr val="lt1"/>
                </a:solidFill>
                <a:latin typeface="Unbounded"/>
                <a:ea typeface="Unbounded"/>
                <a:cs typeface="Unbounded"/>
                <a:sym typeface="Unbounded"/>
              </a:rPr>
              <a:t>Relational Data Model</a:t>
            </a:r>
            <a:endParaRPr sz="4400">
              <a:solidFill>
                <a:schemeClr val="lt1"/>
              </a:solidFill>
              <a:latin typeface="Unbounded"/>
              <a:ea typeface="Unbounded"/>
              <a:cs typeface="Unbounded"/>
              <a:sym typeface="Unbounded"/>
            </a:endParaRPr>
          </a:p>
        </p:txBody>
      </p:sp>
      <p:pic>
        <p:nvPicPr>
          <p:cNvPr id="114" name="Google Shape;114;p18"/>
          <p:cNvPicPr preferRelativeResize="0"/>
          <p:nvPr/>
        </p:nvPicPr>
        <p:blipFill>
          <a:blip r:embed="rId3">
            <a:alphaModFix/>
          </a:blip>
          <a:stretch>
            <a:fillRect/>
          </a:stretch>
        </p:blipFill>
        <p:spPr>
          <a:xfrm>
            <a:off x="76200" y="2402500"/>
            <a:ext cx="14478002" cy="3128166"/>
          </a:xfrm>
          <a:prstGeom prst="rect">
            <a:avLst/>
          </a:prstGeom>
          <a:noFill/>
          <a:ln>
            <a:noFill/>
          </a:ln>
        </p:spPr>
      </p:pic>
      <p:sp>
        <p:nvSpPr>
          <p:cNvPr id="115" name="Google Shape;115;p18"/>
          <p:cNvSpPr/>
          <p:nvPr/>
        </p:nvSpPr>
        <p:spPr>
          <a:xfrm>
            <a:off x="12763600" y="7679625"/>
            <a:ext cx="1770600" cy="462900"/>
          </a:xfrm>
          <a:prstGeom prst="rect">
            <a:avLst/>
          </a:prstGeom>
          <a:solidFill>
            <a:srgbClr val="112836"/>
          </a:solidFill>
          <a:ln cap="flat" cmpd="sng" w="9525">
            <a:solidFill>
              <a:srgbClr val="1128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p:nvPr/>
        </p:nvSpPr>
        <p:spPr>
          <a:xfrm>
            <a:off x="837724" y="1735336"/>
            <a:ext cx="5956200" cy="7041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Unbounded"/>
              <a:buNone/>
            </a:pPr>
            <a:r>
              <a:rPr b="0" i="0" lang="en-US" sz="4400" u="none" cap="none" strike="noStrike">
                <a:solidFill>
                  <a:srgbClr val="FFFFFF"/>
                </a:solidFill>
                <a:latin typeface="Unbounded"/>
                <a:ea typeface="Unbounded"/>
                <a:cs typeface="Unbounded"/>
                <a:sym typeface="Unbounded"/>
              </a:rPr>
              <a:t>Technology Stack</a:t>
            </a:r>
            <a:endParaRPr b="0" i="0" sz="4400" u="none" cap="none" strike="noStrike"/>
          </a:p>
        </p:txBody>
      </p:sp>
      <p:sp>
        <p:nvSpPr>
          <p:cNvPr id="122" name="Google Shape;122;p19"/>
          <p:cNvSpPr/>
          <p:nvPr/>
        </p:nvSpPr>
        <p:spPr>
          <a:xfrm>
            <a:off x="837724" y="2918103"/>
            <a:ext cx="4158600" cy="3576300"/>
          </a:xfrm>
          <a:prstGeom prst="roundRect">
            <a:avLst>
              <a:gd fmla="val 1004"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9"/>
          <p:cNvSpPr/>
          <p:nvPr/>
        </p:nvSpPr>
        <p:spPr>
          <a:xfrm>
            <a:off x="1077039" y="3157418"/>
            <a:ext cx="718200" cy="718200"/>
          </a:xfrm>
          <a:prstGeom prst="roundRect">
            <a:avLst>
              <a:gd fmla="val 12732932" name="adj"/>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4" name="Google Shape;124;p19"/>
          <p:cNvPicPr preferRelativeResize="0"/>
          <p:nvPr/>
        </p:nvPicPr>
        <p:blipFill rotWithShape="1">
          <a:blip r:embed="rId3">
            <a:alphaModFix/>
          </a:blip>
          <a:srcRect b="0" l="0" r="0" t="0"/>
          <a:stretch/>
        </p:blipFill>
        <p:spPr>
          <a:xfrm>
            <a:off x="1274445" y="3354824"/>
            <a:ext cx="323136" cy="323136"/>
          </a:xfrm>
          <a:prstGeom prst="rect">
            <a:avLst/>
          </a:prstGeom>
          <a:noFill/>
          <a:ln>
            <a:noFill/>
          </a:ln>
        </p:spPr>
      </p:pic>
      <p:sp>
        <p:nvSpPr>
          <p:cNvPr id="125" name="Google Shape;125;p19"/>
          <p:cNvSpPr/>
          <p:nvPr/>
        </p:nvSpPr>
        <p:spPr>
          <a:xfrm>
            <a:off x="1077039" y="4114800"/>
            <a:ext cx="29760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MySQL Database</a:t>
            </a:r>
            <a:endParaRPr b="0" i="0" sz="2200" u="none" cap="none" strike="noStrike"/>
          </a:p>
        </p:txBody>
      </p:sp>
      <p:sp>
        <p:nvSpPr>
          <p:cNvPr id="126" name="Google Shape;126;p19"/>
          <p:cNvSpPr/>
          <p:nvPr/>
        </p:nvSpPr>
        <p:spPr>
          <a:xfrm>
            <a:off x="1077039" y="4610338"/>
            <a:ext cx="36801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Relational data storage managing users, vehicles, and transactions</a:t>
            </a:r>
            <a:endParaRPr b="0" i="0" sz="1850" u="none" cap="none" strike="noStrike"/>
          </a:p>
        </p:txBody>
      </p:sp>
      <p:sp>
        <p:nvSpPr>
          <p:cNvPr id="127" name="Google Shape;127;p19"/>
          <p:cNvSpPr/>
          <p:nvPr/>
        </p:nvSpPr>
        <p:spPr>
          <a:xfrm>
            <a:off x="5235773" y="2918103"/>
            <a:ext cx="4158600" cy="3576300"/>
          </a:xfrm>
          <a:prstGeom prst="roundRect">
            <a:avLst>
              <a:gd fmla="val 1004"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a:off x="5475089" y="3157418"/>
            <a:ext cx="718200" cy="718200"/>
          </a:xfrm>
          <a:prstGeom prst="roundRect">
            <a:avLst>
              <a:gd fmla="val 12732932" name="adj"/>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 name="Google Shape;129;p19"/>
          <p:cNvPicPr preferRelativeResize="0"/>
          <p:nvPr/>
        </p:nvPicPr>
        <p:blipFill rotWithShape="1">
          <a:blip r:embed="rId4">
            <a:alphaModFix/>
          </a:blip>
          <a:srcRect b="0" l="0" r="0" t="0"/>
          <a:stretch/>
        </p:blipFill>
        <p:spPr>
          <a:xfrm>
            <a:off x="5672495" y="3354824"/>
            <a:ext cx="323136" cy="323136"/>
          </a:xfrm>
          <a:prstGeom prst="rect">
            <a:avLst/>
          </a:prstGeom>
          <a:noFill/>
          <a:ln>
            <a:noFill/>
          </a:ln>
        </p:spPr>
      </p:pic>
      <p:sp>
        <p:nvSpPr>
          <p:cNvPr id="130" name="Google Shape;130;p19"/>
          <p:cNvSpPr/>
          <p:nvPr/>
        </p:nvSpPr>
        <p:spPr>
          <a:xfrm>
            <a:off x="5475089" y="4114800"/>
            <a:ext cx="3680100" cy="703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React/Next.js Frontend</a:t>
            </a:r>
            <a:endParaRPr b="0" i="0" sz="2200" u="none" cap="none" strike="noStrike"/>
          </a:p>
        </p:txBody>
      </p:sp>
      <p:sp>
        <p:nvSpPr>
          <p:cNvPr id="131" name="Google Shape;131;p19"/>
          <p:cNvSpPr/>
          <p:nvPr/>
        </p:nvSpPr>
        <p:spPr>
          <a:xfrm>
            <a:off x="5475089" y="4962287"/>
            <a:ext cx="36801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Dynamic user interface with HTML, CSS, and JavaScript components</a:t>
            </a:r>
            <a:endParaRPr b="0" i="0" sz="1850" u="none" cap="none" strike="noStrike"/>
          </a:p>
        </p:txBody>
      </p:sp>
      <p:sp>
        <p:nvSpPr>
          <p:cNvPr id="132" name="Google Shape;132;p19"/>
          <p:cNvSpPr/>
          <p:nvPr/>
        </p:nvSpPr>
        <p:spPr>
          <a:xfrm>
            <a:off x="5475089" y="5871924"/>
            <a:ext cx="36801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t/>
            </a:r>
            <a:endParaRPr b="0" i="0" sz="1850" u="none" cap="none" strike="noStrike"/>
          </a:p>
        </p:txBody>
      </p:sp>
      <p:sp>
        <p:nvSpPr>
          <p:cNvPr id="133" name="Google Shape;133;p19"/>
          <p:cNvSpPr/>
          <p:nvPr/>
        </p:nvSpPr>
        <p:spPr>
          <a:xfrm>
            <a:off x="9633823" y="2918103"/>
            <a:ext cx="4158900" cy="3576300"/>
          </a:xfrm>
          <a:prstGeom prst="roundRect">
            <a:avLst>
              <a:gd fmla="val 1004" name="adj"/>
            </a:avLst>
          </a:prstGeom>
          <a:solidFill>
            <a:srgbClr val="3047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9"/>
          <p:cNvSpPr/>
          <p:nvPr/>
        </p:nvSpPr>
        <p:spPr>
          <a:xfrm>
            <a:off x="9873139" y="3157418"/>
            <a:ext cx="718200" cy="718200"/>
          </a:xfrm>
          <a:prstGeom prst="roundRect">
            <a:avLst>
              <a:gd fmla="val 12732932" name="adj"/>
            </a:avLst>
          </a:prstGeom>
          <a:solidFill>
            <a:srgbClr val="0A988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 name="Google Shape;135;p19"/>
          <p:cNvPicPr preferRelativeResize="0"/>
          <p:nvPr/>
        </p:nvPicPr>
        <p:blipFill rotWithShape="1">
          <a:blip r:embed="rId5">
            <a:alphaModFix/>
          </a:blip>
          <a:srcRect b="0" l="0" r="0" t="0"/>
          <a:stretch/>
        </p:blipFill>
        <p:spPr>
          <a:xfrm>
            <a:off x="10070544" y="3354824"/>
            <a:ext cx="323136" cy="323136"/>
          </a:xfrm>
          <a:prstGeom prst="rect">
            <a:avLst/>
          </a:prstGeom>
          <a:noFill/>
          <a:ln>
            <a:noFill/>
          </a:ln>
        </p:spPr>
      </p:pic>
      <p:sp>
        <p:nvSpPr>
          <p:cNvPr id="136" name="Google Shape;136;p19"/>
          <p:cNvSpPr/>
          <p:nvPr/>
        </p:nvSpPr>
        <p:spPr>
          <a:xfrm>
            <a:off x="9873139" y="4114800"/>
            <a:ext cx="3680100" cy="703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Python + Flask + Express.js</a:t>
            </a:r>
            <a:endParaRPr b="0" i="0" sz="2200" u="none" cap="none" strike="noStrike"/>
          </a:p>
        </p:txBody>
      </p:sp>
      <p:sp>
        <p:nvSpPr>
          <p:cNvPr id="137" name="Google Shape;137;p19"/>
          <p:cNvSpPr/>
          <p:nvPr/>
        </p:nvSpPr>
        <p:spPr>
          <a:xfrm>
            <a:off x="9873139" y="4962287"/>
            <a:ext cx="3680100" cy="7659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Backend API handling business logic and request processing</a:t>
            </a:r>
            <a:endParaRPr b="0" i="0" sz="1850" u="none" cap="none" strike="noStrike"/>
          </a:p>
        </p:txBody>
      </p:sp>
      <p:sp>
        <p:nvSpPr>
          <p:cNvPr id="138" name="Google Shape;138;p19"/>
          <p:cNvSpPr/>
          <p:nvPr/>
        </p:nvSpPr>
        <p:spPr>
          <a:xfrm>
            <a:off x="9873139" y="5871924"/>
            <a:ext cx="3680100" cy="383100"/>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t/>
            </a:r>
            <a:endParaRPr b="0" i="0" sz="1850" u="none" cap="none" strike="noStrike"/>
          </a:p>
        </p:txBody>
      </p:sp>
      <p:sp>
        <p:nvSpPr>
          <p:cNvPr id="139" name="Google Shape;139;p19"/>
          <p:cNvSpPr/>
          <p:nvPr/>
        </p:nvSpPr>
        <p:spPr>
          <a:xfrm>
            <a:off x="12763600" y="7679625"/>
            <a:ext cx="1770600" cy="462900"/>
          </a:xfrm>
          <a:prstGeom prst="rect">
            <a:avLst/>
          </a:prstGeom>
          <a:solidFill>
            <a:srgbClr val="112836"/>
          </a:solidFill>
          <a:ln cap="flat" cmpd="sng" w="9525">
            <a:solidFill>
              <a:srgbClr val="1128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p:nvPr/>
        </p:nvSpPr>
        <p:spPr>
          <a:xfrm>
            <a:off x="837724" y="2259092"/>
            <a:ext cx="872740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Unbounded"/>
              <a:buNone/>
            </a:pPr>
            <a:r>
              <a:rPr b="0" i="0" lang="en-US" sz="4400" u="none" cap="none" strike="noStrike">
                <a:solidFill>
                  <a:srgbClr val="FFFFFF"/>
                </a:solidFill>
                <a:latin typeface="Unbounded"/>
                <a:ea typeface="Unbounded"/>
                <a:cs typeface="Unbounded"/>
                <a:sym typeface="Unbounded"/>
              </a:rPr>
              <a:t>Infrastructure &amp; Analytics</a:t>
            </a:r>
            <a:endParaRPr b="0" i="0" sz="4400" u="none" cap="none" strike="noStrike"/>
          </a:p>
        </p:txBody>
      </p:sp>
      <p:sp>
        <p:nvSpPr>
          <p:cNvPr id="146" name="Google Shape;146;p20"/>
          <p:cNvSpPr/>
          <p:nvPr/>
        </p:nvSpPr>
        <p:spPr>
          <a:xfrm>
            <a:off x="837724" y="3561398"/>
            <a:ext cx="3972758" cy="422315"/>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FFFFFF"/>
              </a:buClr>
              <a:buSzPts val="2650"/>
              <a:buFont typeface="Unbounded"/>
              <a:buNone/>
            </a:pPr>
            <a:r>
              <a:rPr b="0" i="0" lang="en-US" sz="2650" u="none" cap="none" strike="noStrike">
                <a:solidFill>
                  <a:srgbClr val="FFFFFF"/>
                </a:solidFill>
                <a:latin typeface="Unbounded"/>
                <a:ea typeface="Unbounded"/>
                <a:cs typeface="Unbounded"/>
                <a:sym typeface="Unbounded"/>
              </a:rPr>
              <a:t>Docker Deployment</a:t>
            </a:r>
            <a:endParaRPr b="0" i="0" sz="2650" u="none" cap="none" strike="noStrike"/>
          </a:p>
        </p:txBody>
      </p:sp>
      <p:sp>
        <p:nvSpPr>
          <p:cNvPr id="147" name="Google Shape;147;p20"/>
          <p:cNvSpPr/>
          <p:nvPr/>
        </p:nvSpPr>
        <p:spPr>
          <a:xfrm>
            <a:off x="837724" y="4223028"/>
            <a:ext cx="6185535" cy="153209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Containerized environment ensuring consistent deployment across development and production systems. Muhammad leads container orchestration and infrastructure management.</a:t>
            </a:r>
            <a:endParaRPr b="0" i="0" sz="1850" u="none" cap="none" strike="noStrike"/>
          </a:p>
        </p:txBody>
      </p:sp>
      <p:sp>
        <p:nvSpPr>
          <p:cNvPr id="148" name="Google Shape;148;p20"/>
          <p:cNvSpPr/>
          <p:nvPr/>
        </p:nvSpPr>
        <p:spPr>
          <a:xfrm>
            <a:off x="7614761" y="3561398"/>
            <a:ext cx="4354235" cy="422315"/>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FFFFFF"/>
              </a:buClr>
              <a:buSzPts val="2650"/>
              <a:buFont typeface="Unbounded"/>
              <a:buNone/>
            </a:pPr>
            <a:r>
              <a:rPr b="0" i="0" lang="en-US" sz="2650" u="none" cap="none" strike="noStrike">
                <a:solidFill>
                  <a:srgbClr val="FFFFFF"/>
                </a:solidFill>
                <a:latin typeface="Unbounded"/>
                <a:ea typeface="Unbounded"/>
                <a:cs typeface="Unbounded"/>
                <a:sym typeface="Unbounded"/>
              </a:rPr>
              <a:t>Reporting Dashboard</a:t>
            </a:r>
            <a:endParaRPr b="0" i="0" sz="2650" u="none" cap="none" strike="noStrike"/>
          </a:p>
        </p:txBody>
      </p:sp>
      <p:sp>
        <p:nvSpPr>
          <p:cNvPr id="149" name="Google Shape;149;p20"/>
          <p:cNvSpPr/>
          <p:nvPr/>
        </p:nvSpPr>
        <p:spPr>
          <a:xfrm>
            <a:off x="7614761" y="4223028"/>
            <a:ext cx="6185535" cy="1149072"/>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Tableau or Plotly integration for real-time analytics and business intelligence. Mim develops visualization tools to track platform performance and user engagement metrics.</a:t>
            </a:r>
            <a:endParaRPr b="0" i="0" sz="1850" u="none" cap="none" strike="noStrike"/>
          </a:p>
        </p:txBody>
      </p:sp>
      <p:sp>
        <p:nvSpPr>
          <p:cNvPr id="150" name="Google Shape;150;p20"/>
          <p:cNvSpPr/>
          <p:nvPr/>
        </p:nvSpPr>
        <p:spPr>
          <a:xfrm>
            <a:off x="12763600" y="7679625"/>
            <a:ext cx="1770600" cy="462900"/>
          </a:xfrm>
          <a:prstGeom prst="rect">
            <a:avLst/>
          </a:prstGeom>
          <a:solidFill>
            <a:srgbClr val="112836"/>
          </a:solidFill>
          <a:ln cap="flat" cmpd="sng" w="9525">
            <a:solidFill>
              <a:srgbClr val="1128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1"/>
          <p:cNvSpPr/>
          <p:nvPr/>
        </p:nvSpPr>
        <p:spPr>
          <a:xfrm>
            <a:off x="837724" y="1124783"/>
            <a:ext cx="563249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Unbounded"/>
              <a:buNone/>
            </a:pPr>
            <a:r>
              <a:rPr b="0" i="0" lang="en-US" sz="4400" u="none" cap="none" strike="noStrike">
                <a:solidFill>
                  <a:srgbClr val="FFFFFF"/>
                </a:solidFill>
                <a:latin typeface="Unbounded"/>
                <a:ea typeface="Unbounded"/>
                <a:cs typeface="Unbounded"/>
                <a:sym typeface="Unbounded"/>
              </a:rPr>
              <a:t>Team Structure</a:t>
            </a:r>
            <a:endParaRPr b="0" i="0" sz="4400" u="none" cap="none" strike="noStrike"/>
          </a:p>
        </p:txBody>
      </p:sp>
      <p:pic>
        <p:nvPicPr>
          <p:cNvPr descr="preencoded.png" id="157" name="Google Shape;157;p21"/>
          <p:cNvPicPr preferRelativeResize="0"/>
          <p:nvPr/>
        </p:nvPicPr>
        <p:blipFill rotWithShape="1">
          <a:blip r:embed="rId3">
            <a:alphaModFix/>
          </a:blip>
          <a:srcRect b="0" l="0" r="0" t="0"/>
          <a:stretch/>
        </p:blipFill>
        <p:spPr>
          <a:xfrm>
            <a:off x="837724" y="2307550"/>
            <a:ext cx="598408" cy="598408"/>
          </a:xfrm>
          <a:prstGeom prst="rect">
            <a:avLst/>
          </a:prstGeom>
          <a:noFill/>
          <a:ln>
            <a:noFill/>
          </a:ln>
        </p:spPr>
      </p:pic>
      <p:sp>
        <p:nvSpPr>
          <p:cNvPr id="158" name="Google Shape;158;p21"/>
          <p:cNvSpPr/>
          <p:nvPr/>
        </p:nvSpPr>
        <p:spPr>
          <a:xfrm>
            <a:off x="837724" y="3205163"/>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Database Team</a:t>
            </a:r>
            <a:endParaRPr b="0" i="0" sz="2200" u="none" cap="none" strike="noStrike"/>
          </a:p>
        </p:txBody>
      </p:sp>
      <p:sp>
        <p:nvSpPr>
          <p:cNvPr id="159" name="Google Shape;159;p21"/>
          <p:cNvSpPr/>
          <p:nvPr/>
        </p:nvSpPr>
        <p:spPr>
          <a:xfrm>
            <a:off x="837724" y="3700701"/>
            <a:ext cx="6327815"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Guillermo, Thie</a:t>
            </a:r>
            <a:r>
              <a:rPr lang="en-US" sz="1850">
                <a:solidFill>
                  <a:srgbClr val="CAD6DE"/>
                </a:solidFill>
                <a:latin typeface="Cabin"/>
                <a:ea typeface="Cabin"/>
                <a:cs typeface="Cabin"/>
                <a:sym typeface="Cabin"/>
              </a:rPr>
              <a:t>rno </a:t>
            </a:r>
            <a:r>
              <a:rPr b="0" i="0" lang="en-US" sz="1850" u="none" cap="none" strike="noStrike">
                <a:solidFill>
                  <a:srgbClr val="CAD6DE"/>
                </a:solidFill>
                <a:latin typeface="Cabin"/>
                <a:ea typeface="Cabin"/>
                <a:cs typeface="Cabin"/>
                <a:sym typeface="Cabin"/>
              </a:rPr>
              <a:t>and Tyler</a:t>
            </a:r>
            <a:r>
              <a:rPr lang="en-US" sz="1850">
                <a:solidFill>
                  <a:srgbClr val="CAD6DE"/>
                </a:solidFill>
                <a:latin typeface="Cabin"/>
                <a:ea typeface="Cabin"/>
                <a:cs typeface="Cabin"/>
                <a:sym typeface="Cabin"/>
              </a:rPr>
              <a:t> </a:t>
            </a:r>
            <a:r>
              <a:rPr b="0" i="0" lang="en-US" sz="1850" u="none" cap="none" strike="noStrike">
                <a:solidFill>
                  <a:srgbClr val="CAD6DE"/>
                </a:solidFill>
                <a:latin typeface="Cabin"/>
                <a:ea typeface="Cabin"/>
                <a:cs typeface="Cabin"/>
                <a:sym typeface="Cabin"/>
              </a:rPr>
              <a:t>collaborate on schema design and data architecture</a:t>
            </a:r>
            <a:endParaRPr b="0" i="0" sz="1850" u="none" cap="none" strike="noStrike"/>
          </a:p>
        </p:txBody>
      </p:sp>
      <p:pic>
        <p:nvPicPr>
          <p:cNvPr descr="preencoded.png" id="160" name="Google Shape;160;p21"/>
          <p:cNvPicPr preferRelativeResize="0"/>
          <p:nvPr/>
        </p:nvPicPr>
        <p:blipFill rotWithShape="1">
          <a:blip r:embed="rId4">
            <a:alphaModFix/>
          </a:blip>
          <a:srcRect b="0" l="0" r="0" t="0"/>
          <a:stretch/>
        </p:blipFill>
        <p:spPr>
          <a:xfrm>
            <a:off x="7464743" y="2307550"/>
            <a:ext cx="598408" cy="598408"/>
          </a:xfrm>
          <a:prstGeom prst="rect">
            <a:avLst/>
          </a:prstGeom>
          <a:noFill/>
          <a:ln>
            <a:noFill/>
          </a:ln>
        </p:spPr>
      </p:pic>
      <p:sp>
        <p:nvSpPr>
          <p:cNvPr id="161" name="Google Shape;161;p21"/>
          <p:cNvSpPr/>
          <p:nvPr/>
        </p:nvSpPr>
        <p:spPr>
          <a:xfrm>
            <a:off x="7464743" y="3205163"/>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Frontend Team</a:t>
            </a:r>
            <a:endParaRPr b="0" i="0" sz="2200" u="none" cap="none" strike="noStrike"/>
          </a:p>
        </p:txBody>
      </p:sp>
      <p:sp>
        <p:nvSpPr>
          <p:cNvPr id="162" name="Google Shape;162;p21"/>
          <p:cNvSpPr/>
          <p:nvPr/>
        </p:nvSpPr>
        <p:spPr>
          <a:xfrm>
            <a:off x="7464743" y="3700701"/>
            <a:ext cx="6327934"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Mim, Rishika, and Thierno building responsive user interfaces and client experiences</a:t>
            </a:r>
            <a:endParaRPr b="0" i="0" sz="1850" u="none" cap="none" strike="noStrike"/>
          </a:p>
        </p:txBody>
      </p:sp>
      <p:pic>
        <p:nvPicPr>
          <p:cNvPr descr="preencoded.png" id="163" name="Google Shape;163;p21"/>
          <p:cNvPicPr preferRelativeResize="0"/>
          <p:nvPr/>
        </p:nvPicPr>
        <p:blipFill rotWithShape="1">
          <a:blip r:embed="rId5">
            <a:alphaModFix/>
          </a:blip>
          <a:srcRect b="0" l="0" r="0" t="0"/>
          <a:stretch/>
        </p:blipFill>
        <p:spPr>
          <a:xfrm>
            <a:off x="837724" y="4945499"/>
            <a:ext cx="598408" cy="598408"/>
          </a:xfrm>
          <a:prstGeom prst="rect">
            <a:avLst/>
          </a:prstGeom>
          <a:noFill/>
          <a:ln>
            <a:noFill/>
          </a:ln>
        </p:spPr>
      </p:pic>
      <p:sp>
        <p:nvSpPr>
          <p:cNvPr id="164" name="Google Shape;164;p21"/>
          <p:cNvSpPr/>
          <p:nvPr/>
        </p:nvSpPr>
        <p:spPr>
          <a:xfrm>
            <a:off x="837724" y="5843111"/>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Backend Team</a:t>
            </a:r>
            <a:endParaRPr b="0" i="0" sz="2200" u="none" cap="none" strike="noStrike"/>
          </a:p>
        </p:txBody>
      </p:sp>
      <p:sp>
        <p:nvSpPr>
          <p:cNvPr id="165" name="Google Shape;165;p21"/>
          <p:cNvSpPr/>
          <p:nvPr/>
        </p:nvSpPr>
        <p:spPr>
          <a:xfrm>
            <a:off x="837724" y="6338649"/>
            <a:ext cx="6327815"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Muhammad, Tyler, Guillermo developing API endpoints and server logic</a:t>
            </a:r>
            <a:endParaRPr b="0" i="0" sz="1850" u="none" cap="none" strike="noStrike"/>
          </a:p>
        </p:txBody>
      </p:sp>
      <p:pic>
        <p:nvPicPr>
          <p:cNvPr descr="preencoded.png" id="166" name="Google Shape;166;p21"/>
          <p:cNvPicPr preferRelativeResize="0"/>
          <p:nvPr/>
        </p:nvPicPr>
        <p:blipFill rotWithShape="1">
          <a:blip r:embed="rId6">
            <a:alphaModFix/>
          </a:blip>
          <a:srcRect b="0" l="0" r="0" t="0"/>
          <a:stretch/>
        </p:blipFill>
        <p:spPr>
          <a:xfrm>
            <a:off x="7464743" y="4945499"/>
            <a:ext cx="598408" cy="598408"/>
          </a:xfrm>
          <a:prstGeom prst="rect">
            <a:avLst/>
          </a:prstGeom>
          <a:noFill/>
          <a:ln>
            <a:noFill/>
          </a:ln>
        </p:spPr>
      </p:pic>
      <p:sp>
        <p:nvSpPr>
          <p:cNvPr id="167" name="Google Shape;167;p21"/>
          <p:cNvSpPr/>
          <p:nvPr/>
        </p:nvSpPr>
        <p:spPr>
          <a:xfrm>
            <a:off x="7464743" y="5843111"/>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Reporting Team</a:t>
            </a:r>
            <a:endParaRPr b="0" i="0" sz="2200" u="none" cap="none" strike="noStrike"/>
          </a:p>
        </p:txBody>
      </p:sp>
      <p:sp>
        <p:nvSpPr>
          <p:cNvPr id="168" name="Google Shape;168;p21"/>
          <p:cNvSpPr/>
          <p:nvPr/>
        </p:nvSpPr>
        <p:spPr>
          <a:xfrm>
            <a:off x="7464743" y="6338649"/>
            <a:ext cx="6327934"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Mim and Rishika  creating dashboards to measure platform success and user behavior</a:t>
            </a:r>
            <a:endParaRPr b="0" i="0" sz="1850" u="none" cap="none" strike="noStrike"/>
          </a:p>
        </p:txBody>
      </p:sp>
      <p:sp>
        <p:nvSpPr>
          <p:cNvPr id="169" name="Google Shape;169;p21"/>
          <p:cNvSpPr/>
          <p:nvPr/>
        </p:nvSpPr>
        <p:spPr>
          <a:xfrm>
            <a:off x="12763600" y="7679625"/>
            <a:ext cx="1770600" cy="462900"/>
          </a:xfrm>
          <a:prstGeom prst="rect">
            <a:avLst/>
          </a:prstGeom>
          <a:solidFill>
            <a:srgbClr val="112836"/>
          </a:solidFill>
          <a:ln cap="flat" cmpd="sng" w="9525">
            <a:solidFill>
              <a:srgbClr val="1128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preencoded.png" id="175" name="Google Shape;175;p2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76" name="Google Shape;176;p22"/>
          <p:cNvSpPr/>
          <p:nvPr/>
        </p:nvSpPr>
        <p:spPr>
          <a:xfrm>
            <a:off x="837725" y="354275"/>
            <a:ext cx="7341600" cy="2002200"/>
          </a:xfrm>
          <a:prstGeom prst="rect">
            <a:avLst/>
          </a:prstGeom>
          <a:noFill/>
          <a:ln>
            <a:noFill/>
          </a:ln>
        </p:spPr>
        <p:txBody>
          <a:bodyPr anchorCtr="0" anchor="t" bIns="0" lIns="0" spcFirstLastPara="1" rIns="0" wrap="square" tIns="0">
            <a:noAutofit/>
          </a:bodyPr>
          <a:lstStyle/>
          <a:p>
            <a:pPr indent="0" lvl="0" marL="0" rtl="0" algn="l">
              <a:lnSpc>
                <a:spcPct val="125000"/>
              </a:lnSpc>
              <a:spcBef>
                <a:spcPts val="0"/>
              </a:spcBef>
              <a:spcAft>
                <a:spcPts val="0"/>
              </a:spcAft>
              <a:buClr>
                <a:schemeClr val="lt1"/>
              </a:buClr>
              <a:buSzPts val="4400"/>
              <a:buFont typeface="Unbounded"/>
              <a:buNone/>
            </a:pPr>
            <a:r>
              <a:rPr lang="en-US" sz="4400">
                <a:solidFill>
                  <a:schemeClr val="lt1"/>
                </a:solidFill>
                <a:latin typeface="Unbounded"/>
                <a:ea typeface="Unbounded"/>
                <a:cs typeface="Unbounded"/>
                <a:sym typeface="Unbounded"/>
              </a:rPr>
              <a:t>How do we make money?</a:t>
            </a:r>
            <a:endParaRPr i="0" sz="4400" cap="none" strike="noStrike">
              <a:solidFill>
                <a:schemeClr val="lt1"/>
              </a:solidFill>
              <a:latin typeface="Cabin"/>
              <a:ea typeface="Cabin"/>
              <a:cs typeface="Cabin"/>
              <a:sym typeface="Cabin"/>
            </a:endParaRPr>
          </a:p>
        </p:txBody>
      </p:sp>
      <p:sp>
        <p:nvSpPr>
          <p:cNvPr id="177" name="Google Shape;177;p22"/>
          <p:cNvSpPr/>
          <p:nvPr/>
        </p:nvSpPr>
        <p:spPr>
          <a:xfrm>
            <a:off x="705575" y="2074775"/>
            <a:ext cx="7605900" cy="4920300"/>
          </a:xfrm>
          <a:prstGeom prst="rect">
            <a:avLst/>
          </a:prstGeom>
          <a:noFill/>
          <a:ln>
            <a:noFill/>
          </a:ln>
        </p:spPr>
        <p:txBody>
          <a:bodyPr anchorCtr="0" anchor="t" bIns="0" lIns="0" spcFirstLastPara="1" rIns="0" wrap="square" tIns="0">
            <a:noAutofit/>
          </a:bodyPr>
          <a:lstStyle/>
          <a:p>
            <a:pPr indent="-355600" lvl="0" marL="457200" marR="0" rtl="0" algn="l">
              <a:lnSpc>
                <a:spcPct val="162162"/>
              </a:lnSpc>
              <a:spcBef>
                <a:spcPts val="0"/>
              </a:spcBef>
              <a:spcAft>
                <a:spcPts val="0"/>
              </a:spcAft>
              <a:buClr>
                <a:srgbClr val="CAD6DE"/>
              </a:buClr>
              <a:buSzPts val="2000"/>
              <a:buFont typeface="Cabin"/>
              <a:buChar char="-"/>
            </a:pPr>
            <a:r>
              <a:rPr lang="en-US" sz="2000">
                <a:solidFill>
                  <a:srgbClr val="CAD6DE"/>
                </a:solidFill>
                <a:latin typeface="Cabin"/>
                <a:ea typeface="Cabin"/>
                <a:cs typeface="Cabin"/>
                <a:sym typeface="Cabin"/>
              </a:rPr>
              <a:t>Listings are priced per day.</a:t>
            </a:r>
            <a:endParaRPr sz="2000">
              <a:solidFill>
                <a:srgbClr val="CAD6DE"/>
              </a:solidFill>
              <a:latin typeface="Cabin"/>
              <a:ea typeface="Cabin"/>
              <a:cs typeface="Cabin"/>
              <a:sym typeface="Cabin"/>
            </a:endParaRPr>
          </a:p>
          <a:p>
            <a:pPr indent="-355600" lvl="0" marL="457200" marR="0" rtl="0" algn="l">
              <a:lnSpc>
                <a:spcPct val="162162"/>
              </a:lnSpc>
              <a:spcBef>
                <a:spcPts val="0"/>
              </a:spcBef>
              <a:spcAft>
                <a:spcPts val="0"/>
              </a:spcAft>
              <a:buClr>
                <a:srgbClr val="CAD6DE"/>
              </a:buClr>
              <a:buSzPts val="2000"/>
              <a:buFont typeface="Cabin"/>
              <a:buChar char="-"/>
            </a:pPr>
            <a:r>
              <a:rPr lang="en-US" sz="2000">
                <a:solidFill>
                  <a:srgbClr val="CAD6DE"/>
                </a:solidFill>
                <a:latin typeface="Cabin"/>
                <a:ea typeface="Cabin"/>
                <a:cs typeface="Cabin"/>
                <a:sym typeface="Cabin"/>
              </a:rPr>
              <a:t>Ex</a:t>
            </a:r>
            <a:r>
              <a:rPr lang="en-US" sz="2000">
                <a:solidFill>
                  <a:srgbClr val="CAD6DE"/>
                </a:solidFill>
                <a:latin typeface="Cabin"/>
                <a:ea typeface="Cabin"/>
                <a:cs typeface="Cabin"/>
                <a:sym typeface="Cabin"/>
              </a:rPr>
              <a:t>: $100 per day </a:t>
            </a:r>
            <a:endParaRPr sz="2000">
              <a:solidFill>
                <a:srgbClr val="CAD6DE"/>
              </a:solidFill>
              <a:latin typeface="Cabin"/>
              <a:ea typeface="Cabin"/>
              <a:cs typeface="Cabin"/>
              <a:sym typeface="Cabin"/>
            </a:endParaRPr>
          </a:p>
          <a:p>
            <a:pPr indent="-355600" lvl="0" marL="457200" marR="0" rtl="0" algn="l">
              <a:lnSpc>
                <a:spcPct val="162162"/>
              </a:lnSpc>
              <a:spcBef>
                <a:spcPts val="0"/>
              </a:spcBef>
              <a:spcAft>
                <a:spcPts val="0"/>
              </a:spcAft>
              <a:buClr>
                <a:srgbClr val="CAD6DE"/>
              </a:buClr>
              <a:buSzPts val="2000"/>
              <a:buFont typeface="Cabin"/>
              <a:buChar char="-"/>
            </a:pPr>
            <a:r>
              <a:rPr lang="en-US" sz="2000">
                <a:solidFill>
                  <a:srgbClr val="CAD6DE"/>
                </a:solidFill>
                <a:latin typeface="Cabin"/>
                <a:ea typeface="Cabin"/>
                <a:cs typeface="Cabin"/>
                <a:sym typeface="Cabin"/>
              </a:rPr>
              <a:t>Our Commission: </a:t>
            </a:r>
            <a:r>
              <a:rPr lang="en-US" sz="2000">
                <a:solidFill>
                  <a:srgbClr val="CAD6DE"/>
                </a:solidFill>
                <a:latin typeface="Cabin"/>
                <a:ea typeface="Cabin"/>
                <a:cs typeface="Cabin"/>
                <a:sym typeface="Cabin"/>
              </a:rPr>
              <a:t>10%</a:t>
            </a:r>
            <a:endParaRPr sz="2000">
              <a:solidFill>
                <a:srgbClr val="CAD6DE"/>
              </a:solidFill>
              <a:latin typeface="Cabin"/>
              <a:ea typeface="Cabin"/>
              <a:cs typeface="Cabin"/>
              <a:sym typeface="Cabin"/>
            </a:endParaRPr>
          </a:p>
          <a:p>
            <a:pPr indent="-355600" lvl="0" marL="457200" marR="0" rtl="0" algn="l">
              <a:lnSpc>
                <a:spcPct val="162162"/>
              </a:lnSpc>
              <a:spcBef>
                <a:spcPts val="0"/>
              </a:spcBef>
              <a:spcAft>
                <a:spcPts val="0"/>
              </a:spcAft>
              <a:buClr>
                <a:srgbClr val="CAD6DE"/>
              </a:buClr>
              <a:buSzPts val="2000"/>
              <a:buFont typeface="Cabin"/>
              <a:buChar char="-"/>
            </a:pPr>
            <a:r>
              <a:rPr lang="en-US" sz="2000">
                <a:solidFill>
                  <a:srgbClr val="CAD6DE"/>
                </a:solidFill>
                <a:latin typeface="Cabin"/>
                <a:ea typeface="Cabin"/>
                <a:cs typeface="Cabin"/>
                <a:sym typeface="Cabin"/>
              </a:rPr>
              <a:t>Delivery fee: Distance based</a:t>
            </a:r>
            <a:endParaRPr sz="2000">
              <a:solidFill>
                <a:srgbClr val="CAD6DE"/>
              </a:solidFill>
              <a:latin typeface="Cabin"/>
              <a:ea typeface="Cabin"/>
              <a:cs typeface="Cabin"/>
              <a:sym typeface="Cabin"/>
            </a:endParaRPr>
          </a:p>
          <a:p>
            <a:pPr indent="-355600" lvl="0" marL="457200" marR="0" rtl="0" algn="l">
              <a:lnSpc>
                <a:spcPct val="162162"/>
              </a:lnSpc>
              <a:spcBef>
                <a:spcPts val="0"/>
              </a:spcBef>
              <a:spcAft>
                <a:spcPts val="0"/>
              </a:spcAft>
              <a:buClr>
                <a:srgbClr val="CAD6DE"/>
              </a:buClr>
              <a:buSzPts val="2000"/>
              <a:buFont typeface="Cabin"/>
              <a:buChar char="-"/>
            </a:pPr>
            <a:r>
              <a:rPr lang="en-US" sz="2000">
                <a:solidFill>
                  <a:srgbClr val="CAD6DE"/>
                </a:solidFill>
                <a:latin typeface="Cabin"/>
                <a:ea typeface="Cabin"/>
                <a:cs typeface="Cabin"/>
                <a:sym typeface="Cabin"/>
              </a:rPr>
              <a:t>Booking Fee: $5-$10 per renta</a:t>
            </a:r>
            <a:r>
              <a:rPr lang="en-US" sz="2000">
                <a:solidFill>
                  <a:srgbClr val="CAD6DE"/>
                </a:solidFill>
                <a:latin typeface="Cabin"/>
                <a:ea typeface="Cabin"/>
                <a:cs typeface="Cabin"/>
                <a:sym typeface="Cabin"/>
              </a:rPr>
              <a:t>l</a:t>
            </a:r>
            <a:endParaRPr sz="2000">
              <a:solidFill>
                <a:srgbClr val="CAD6DE"/>
              </a:solidFill>
              <a:latin typeface="Cabin"/>
              <a:ea typeface="Cabin"/>
              <a:cs typeface="Cabin"/>
              <a:sym typeface="Cabin"/>
            </a:endParaRPr>
          </a:p>
          <a:p>
            <a:pPr indent="-355600" lvl="0" marL="457200" marR="0" rtl="0" algn="l">
              <a:lnSpc>
                <a:spcPct val="162162"/>
              </a:lnSpc>
              <a:spcBef>
                <a:spcPts val="0"/>
              </a:spcBef>
              <a:spcAft>
                <a:spcPts val="0"/>
              </a:spcAft>
              <a:buClr>
                <a:srgbClr val="CAD6DE"/>
              </a:buClr>
              <a:buSzPts val="2000"/>
              <a:buFont typeface="Cabin"/>
              <a:buChar char="-"/>
            </a:pPr>
            <a:r>
              <a:rPr b="1" lang="en-US" sz="2000">
                <a:solidFill>
                  <a:srgbClr val="CAD6DE"/>
                </a:solidFill>
                <a:latin typeface="Cabin"/>
                <a:ea typeface="Cabin"/>
                <a:cs typeface="Cabin"/>
                <a:sym typeface="Cabin"/>
              </a:rPr>
              <a:t>Data Insights (Profiling from Data)</a:t>
            </a:r>
            <a:endParaRPr b="1" sz="2000">
              <a:solidFill>
                <a:srgbClr val="CAD6DE"/>
              </a:solidFill>
              <a:latin typeface="Cabin"/>
              <a:ea typeface="Cabin"/>
              <a:cs typeface="Cabin"/>
              <a:sym typeface="Cabin"/>
            </a:endParaRPr>
          </a:p>
          <a:p>
            <a:pPr indent="-355600" lvl="1" marL="914400" marR="0" rtl="0" algn="l">
              <a:lnSpc>
                <a:spcPct val="150000"/>
              </a:lnSpc>
              <a:spcBef>
                <a:spcPts val="0"/>
              </a:spcBef>
              <a:spcAft>
                <a:spcPts val="0"/>
              </a:spcAft>
              <a:buClr>
                <a:srgbClr val="CAD6DE"/>
              </a:buClr>
              <a:buSzPts val="2000"/>
              <a:buFont typeface="Cabin"/>
              <a:buChar char="-"/>
            </a:pPr>
            <a:r>
              <a:rPr lang="en-US" sz="1800">
                <a:solidFill>
                  <a:srgbClr val="CAD6DE"/>
                </a:solidFill>
                <a:latin typeface="Cabin"/>
                <a:ea typeface="Cabin"/>
                <a:cs typeface="Cabin"/>
                <a:sym typeface="Cabin"/>
              </a:rPr>
              <a:t>T</a:t>
            </a:r>
            <a:r>
              <a:rPr lang="en-US" sz="1800">
                <a:solidFill>
                  <a:srgbClr val="CAD6DE"/>
                </a:solidFill>
                <a:latin typeface="Cabin"/>
                <a:ea typeface="Cabin"/>
                <a:cs typeface="Cabin"/>
                <a:sym typeface="Cabin"/>
              </a:rPr>
              <a:t>he app could collect useful data such as:</a:t>
            </a:r>
            <a:endParaRPr sz="1800">
              <a:solidFill>
                <a:srgbClr val="CAD6DE"/>
              </a:solidFill>
              <a:latin typeface="Cabin"/>
              <a:ea typeface="Cabin"/>
              <a:cs typeface="Cabin"/>
              <a:sym typeface="Cabin"/>
            </a:endParaRPr>
          </a:p>
          <a:p>
            <a:pPr indent="-342900" lvl="0" marL="1828800" rtl="0" algn="l">
              <a:lnSpc>
                <a:spcPct val="100000"/>
              </a:lnSpc>
              <a:spcBef>
                <a:spcPts val="0"/>
              </a:spcBef>
              <a:spcAft>
                <a:spcPts val="0"/>
              </a:spcAft>
              <a:buClr>
                <a:srgbClr val="CAD6DE"/>
              </a:buClr>
              <a:buSzPts val="1800"/>
              <a:buFont typeface="Cabin"/>
              <a:buChar char="●"/>
            </a:pPr>
            <a:r>
              <a:rPr lang="en-US" sz="1800">
                <a:solidFill>
                  <a:srgbClr val="CAD6DE"/>
                </a:solidFill>
                <a:latin typeface="Cabin"/>
                <a:ea typeface="Cabin"/>
                <a:cs typeface="Cabin"/>
                <a:sym typeface="Cabin"/>
              </a:rPr>
              <a:t>Popular rental locations</a:t>
            </a:r>
            <a:br>
              <a:rPr lang="en-US" sz="1800">
                <a:solidFill>
                  <a:srgbClr val="CAD6DE"/>
                </a:solidFill>
                <a:latin typeface="Cabin"/>
                <a:ea typeface="Cabin"/>
                <a:cs typeface="Cabin"/>
                <a:sym typeface="Cabin"/>
              </a:rPr>
            </a:br>
            <a:endParaRPr sz="1800">
              <a:solidFill>
                <a:srgbClr val="CAD6DE"/>
              </a:solidFill>
              <a:latin typeface="Cabin"/>
              <a:ea typeface="Cabin"/>
              <a:cs typeface="Cabin"/>
              <a:sym typeface="Cabin"/>
            </a:endParaRPr>
          </a:p>
          <a:p>
            <a:pPr indent="-342900" lvl="0" marL="1828800" rtl="0" algn="l">
              <a:lnSpc>
                <a:spcPct val="100000"/>
              </a:lnSpc>
              <a:spcBef>
                <a:spcPts val="0"/>
              </a:spcBef>
              <a:spcAft>
                <a:spcPts val="0"/>
              </a:spcAft>
              <a:buClr>
                <a:srgbClr val="CAD6DE"/>
              </a:buClr>
              <a:buSzPts val="1800"/>
              <a:buFont typeface="Cabin"/>
              <a:buChar char="●"/>
            </a:pPr>
            <a:r>
              <a:rPr lang="en-US" sz="1800">
                <a:solidFill>
                  <a:srgbClr val="CAD6DE"/>
                </a:solidFill>
                <a:latin typeface="Cabin"/>
                <a:ea typeface="Cabin"/>
                <a:cs typeface="Cabin"/>
                <a:sym typeface="Cabin"/>
              </a:rPr>
              <a:t>Demand by city</a:t>
            </a:r>
            <a:br>
              <a:rPr lang="en-US" sz="1800">
                <a:solidFill>
                  <a:srgbClr val="CAD6DE"/>
                </a:solidFill>
                <a:latin typeface="Cabin"/>
                <a:ea typeface="Cabin"/>
                <a:cs typeface="Cabin"/>
                <a:sym typeface="Cabin"/>
              </a:rPr>
            </a:br>
            <a:endParaRPr sz="1800">
              <a:solidFill>
                <a:srgbClr val="CAD6DE"/>
              </a:solidFill>
              <a:latin typeface="Cabin"/>
              <a:ea typeface="Cabin"/>
              <a:cs typeface="Cabin"/>
              <a:sym typeface="Cabin"/>
            </a:endParaRPr>
          </a:p>
          <a:p>
            <a:pPr indent="-342900" lvl="0" marL="1828800" rtl="0" algn="l">
              <a:lnSpc>
                <a:spcPct val="100000"/>
              </a:lnSpc>
              <a:spcBef>
                <a:spcPts val="0"/>
              </a:spcBef>
              <a:spcAft>
                <a:spcPts val="0"/>
              </a:spcAft>
              <a:buClr>
                <a:srgbClr val="CAD6DE"/>
              </a:buClr>
              <a:buSzPts val="1800"/>
              <a:buFont typeface="Cabin"/>
              <a:buChar char="●"/>
            </a:pPr>
            <a:r>
              <a:rPr lang="en-US" sz="1800">
                <a:solidFill>
                  <a:srgbClr val="CAD6DE"/>
                </a:solidFill>
                <a:latin typeface="Cabin"/>
                <a:ea typeface="Cabin"/>
                <a:cs typeface="Cabin"/>
                <a:sym typeface="Cabin"/>
              </a:rPr>
              <a:t>Most rented car types</a:t>
            </a:r>
            <a:br>
              <a:rPr lang="en-US" sz="1800">
                <a:solidFill>
                  <a:srgbClr val="CAD6DE"/>
                </a:solidFill>
                <a:latin typeface="Cabin"/>
                <a:ea typeface="Cabin"/>
                <a:cs typeface="Cabin"/>
                <a:sym typeface="Cabin"/>
              </a:rPr>
            </a:br>
            <a:endParaRPr sz="1800">
              <a:solidFill>
                <a:srgbClr val="CAD6DE"/>
              </a:solidFill>
              <a:latin typeface="Cabin"/>
              <a:ea typeface="Cabin"/>
              <a:cs typeface="Cabin"/>
              <a:sym typeface="Cabin"/>
            </a:endParaRPr>
          </a:p>
          <a:p>
            <a:pPr indent="-342900" lvl="0" marL="1828800" rtl="0" algn="l">
              <a:lnSpc>
                <a:spcPct val="100000"/>
              </a:lnSpc>
              <a:spcBef>
                <a:spcPts val="0"/>
              </a:spcBef>
              <a:spcAft>
                <a:spcPts val="0"/>
              </a:spcAft>
              <a:buClr>
                <a:srgbClr val="CAD6DE"/>
              </a:buClr>
              <a:buSzPts val="1800"/>
              <a:buFont typeface="Cabin"/>
              <a:buChar char="●"/>
            </a:pPr>
            <a:r>
              <a:rPr lang="en-US" sz="1800">
                <a:solidFill>
                  <a:srgbClr val="CAD6DE"/>
                </a:solidFill>
                <a:latin typeface="Cabin"/>
                <a:ea typeface="Cabin"/>
                <a:cs typeface="Cabin"/>
                <a:sym typeface="Cabin"/>
              </a:rPr>
              <a:t>Average rental prices</a:t>
            </a:r>
            <a:endParaRPr sz="1800">
              <a:solidFill>
                <a:srgbClr val="CAD6DE"/>
              </a:solidFill>
              <a:latin typeface="Cabin"/>
              <a:ea typeface="Cabin"/>
              <a:cs typeface="Cabin"/>
              <a:sym typeface="Cabin"/>
            </a:endParaRPr>
          </a:p>
          <a:p>
            <a:pPr indent="0" lvl="0" marL="0" marR="0" rtl="0" algn="l">
              <a:lnSpc>
                <a:spcPct val="162162"/>
              </a:lnSpc>
              <a:spcBef>
                <a:spcPts val="1200"/>
              </a:spcBef>
              <a:spcAft>
                <a:spcPts val="0"/>
              </a:spcAft>
              <a:buClr>
                <a:srgbClr val="CAD6DE"/>
              </a:buClr>
              <a:buSzPts val="1850"/>
              <a:buFont typeface="Cabin"/>
              <a:buNone/>
            </a:pPr>
            <a:r>
              <a:t/>
            </a:r>
            <a:endParaRPr sz="1850">
              <a:solidFill>
                <a:srgbClr val="CAD6DE"/>
              </a:solidFill>
              <a:latin typeface="Cabin"/>
              <a:ea typeface="Cabin"/>
              <a:cs typeface="Cabin"/>
              <a:sym typeface="Cabin"/>
            </a:endParaRPr>
          </a:p>
          <a:p>
            <a:pPr indent="0" lvl="0" marL="0" marR="0" rtl="0" algn="l">
              <a:lnSpc>
                <a:spcPct val="162162"/>
              </a:lnSpc>
              <a:spcBef>
                <a:spcPts val="0"/>
              </a:spcBef>
              <a:spcAft>
                <a:spcPts val="0"/>
              </a:spcAft>
              <a:buClr>
                <a:srgbClr val="CAD6DE"/>
              </a:buClr>
              <a:buSzPts val="1850"/>
              <a:buFont typeface="Cabin"/>
              <a:buNone/>
            </a:pPr>
            <a:r>
              <a:t/>
            </a:r>
            <a:endParaRPr sz="1850">
              <a:solidFill>
                <a:srgbClr val="CAD6DE"/>
              </a:solidFill>
              <a:latin typeface="Cabin"/>
              <a:ea typeface="Cabin"/>
              <a:cs typeface="Cabin"/>
              <a:sym typeface="Cabi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preencoded.png" id="183" name="Google Shape;183;p2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84" name="Google Shape;184;p23"/>
          <p:cNvSpPr/>
          <p:nvPr/>
        </p:nvSpPr>
        <p:spPr>
          <a:xfrm>
            <a:off x="623800" y="394449"/>
            <a:ext cx="7303800" cy="864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Unbounded"/>
              <a:buNone/>
            </a:pPr>
            <a:r>
              <a:rPr lang="en-US" sz="4400">
                <a:solidFill>
                  <a:srgbClr val="FFFFFF"/>
                </a:solidFill>
                <a:latin typeface="Unbounded"/>
                <a:ea typeface="Unbounded"/>
                <a:cs typeface="Unbounded"/>
                <a:sym typeface="Unbounded"/>
              </a:rPr>
              <a:t>Why invest in us?</a:t>
            </a:r>
            <a:endParaRPr b="0" i="0" sz="4400" u="none" cap="none" strike="noStrike"/>
          </a:p>
        </p:txBody>
      </p:sp>
      <p:sp>
        <p:nvSpPr>
          <p:cNvPr id="185" name="Google Shape;185;p23"/>
          <p:cNvSpPr/>
          <p:nvPr/>
        </p:nvSpPr>
        <p:spPr>
          <a:xfrm>
            <a:off x="328150" y="1887525"/>
            <a:ext cx="7895100" cy="5775900"/>
          </a:xfrm>
          <a:prstGeom prst="rect">
            <a:avLst/>
          </a:prstGeom>
          <a:noFill/>
          <a:ln>
            <a:noFill/>
          </a:ln>
        </p:spPr>
        <p:txBody>
          <a:bodyPr anchorCtr="0" anchor="t" bIns="0" lIns="0" spcFirstLastPara="1" rIns="0" wrap="square" tIns="0">
            <a:noAutofit/>
          </a:bodyPr>
          <a:lstStyle/>
          <a:p>
            <a:pPr indent="-387350" lvl="0" marL="457200" rtl="0" algn="l">
              <a:lnSpc>
                <a:spcPct val="100000"/>
              </a:lnSpc>
              <a:spcBef>
                <a:spcPts val="0"/>
              </a:spcBef>
              <a:spcAft>
                <a:spcPts val="0"/>
              </a:spcAft>
              <a:buClr>
                <a:schemeClr val="lt1"/>
              </a:buClr>
              <a:buSzPts val="2500"/>
              <a:buFont typeface="Cabin"/>
              <a:buChar char="-"/>
            </a:pPr>
            <a:r>
              <a:rPr lang="en-US" sz="2500">
                <a:solidFill>
                  <a:schemeClr val="lt1"/>
                </a:solidFill>
                <a:latin typeface="Cabin"/>
                <a:ea typeface="Cabin"/>
                <a:cs typeface="Cabin"/>
                <a:sym typeface="Cabin"/>
              </a:rPr>
              <a:t>Low operating costs</a:t>
            </a:r>
            <a:endParaRPr sz="2500">
              <a:solidFill>
                <a:schemeClr val="lt1"/>
              </a:solidFill>
              <a:latin typeface="Cabin"/>
              <a:ea typeface="Cabin"/>
              <a:cs typeface="Cabin"/>
              <a:sym typeface="Cabin"/>
            </a:endParaRPr>
          </a:p>
          <a:p>
            <a:pPr indent="0" lvl="0" marL="0" rtl="0" algn="l">
              <a:lnSpc>
                <a:spcPct val="100000"/>
              </a:lnSpc>
              <a:spcBef>
                <a:spcPts val="0"/>
              </a:spcBef>
              <a:spcAft>
                <a:spcPts val="0"/>
              </a:spcAft>
              <a:buNone/>
            </a:pPr>
            <a:r>
              <a:t/>
            </a:r>
            <a:endParaRPr sz="2500">
              <a:solidFill>
                <a:schemeClr val="lt1"/>
              </a:solidFill>
              <a:latin typeface="Cabin"/>
              <a:ea typeface="Cabin"/>
              <a:cs typeface="Cabin"/>
              <a:sym typeface="Cabin"/>
            </a:endParaRPr>
          </a:p>
          <a:p>
            <a:pPr indent="0" lvl="0" marL="0" rtl="0" algn="l">
              <a:lnSpc>
                <a:spcPct val="100000"/>
              </a:lnSpc>
              <a:spcBef>
                <a:spcPts val="0"/>
              </a:spcBef>
              <a:spcAft>
                <a:spcPts val="0"/>
              </a:spcAft>
              <a:buNone/>
            </a:pPr>
            <a:r>
              <a:t/>
            </a:r>
            <a:endParaRPr sz="2500">
              <a:solidFill>
                <a:schemeClr val="lt1"/>
              </a:solidFill>
              <a:latin typeface="Cabin"/>
              <a:ea typeface="Cabin"/>
              <a:cs typeface="Cabin"/>
              <a:sym typeface="Cabin"/>
            </a:endParaRPr>
          </a:p>
          <a:p>
            <a:pPr indent="-387350" lvl="0" marL="457200" rtl="0" algn="l">
              <a:lnSpc>
                <a:spcPct val="100000"/>
              </a:lnSpc>
              <a:spcBef>
                <a:spcPts val="0"/>
              </a:spcBef>
              <a:spcAft>
                <a:spcPts val="0"/>
              </a:spcAft>
              <a:buClr>
                <a:schemeClr val="lt1"/>
              </a:buClr>
              <a:buSzPts val="2500"/>
              <a:buFont typeface="Cabin"/>
              <a:buChar char="-"/>
            </a:pPr>
            <a:r>
              <a:rPr lang="en-US" sz="2500">
                <a:solidFill>
                  <a:schemeClr val="lt1"/>
                </a:solidFill>
                <a:latin typeface="Cabin"/>
                <a:ea typeface="Cabin"/>
                <a:cs typeface="Cabin"/>
                <a:sym typeface="Cabin"/>
              </a:rPr>
              <a:t>High </a:t>
            </a:r>
            <a:r>
              <a:rPr lang="en-US" sz="2500">
                <a:solidFill>
                  <a:schemeClr val="lt1"/>
                </a:solidFill>
                <a:latin typeface="Cabin"/>
                <a:ea typeface="Cabin"/>
                <a:cs typeface="Cabin"/>
                <a:sym typeface="Cabin"/>
              </a:rPr>
              <a:t>user demand </a:t>
            </a:r>
            <a:endParaRPr sz="2500">
              <a:solidFill>
                <a:schemeClr val="lt1"/>
              </a:solidFill>
              <a:latin typeface="Cabin"/>
              <a:ea typeface="Cabin"/>
              <a:cs typeface="Cabin"/>
              <a:sym typeface="Cabin"/>
            </a:endParaRPr>
          </a:p>
          <a:p>
            <a:pPr indent="0" lvl="0" marL="457200" rtl="0" algn="l">
              <a:lnSpc>
                <a:spcPct val="100000"/>
              </a:lnSpc>
              <a:spcBef>
                <a:spcPts val="0"/>
              </a:spcBef>
              <a:spcAft>
                <a:spcPts val="0"/>
              </a:spcAft>
              <a:buNone/>
            </a:pPr>
            <a:r>
              <a:t/>
            </a:r>
            <a:endParaRPr sz="2500">
              <a:solidFill>
                <a:schemeClr val="lt1"/>
              </a:solidFill>
              <a:latin typeface="Cabin"/>
              <a:ea typeface="Cabin"/>
              <a:cs typeface="Cabin"/>
              <a:sym typeface="Cabin"/>
            </a:endParaRPr>
          </a:p>
          <a:p>
            <a:pPr indent="0" lvl="0" marL="457200" rtl="0" algn="l">
              <a:lnSpc>
                <a:spcPct val="100000"/>
              </a:lnSpc>
              <a:spcBef>
                <a:spcPts val="0"/>
              </a:spcBef>
              <a:spcAft>
                <a:spcPts val="0"/>
              </a:spcAft>
              <a:buNone/>
            </a:pPr>
            <a:r>
              <a:t/>
            </a:r>
            <a:endParaRPr sz="2500">
              <a:solidFill>
                <a:schemeClr val="lt1"/>
              </a:solidFill>
              <a:latin typeface="Cabin"/>
              <a:ea typeface="Cabin"/>
              <a:cs typeface="Cabin"/>
              <a:sym typeface="Cabin"/>
            </a:endParaRPr>
          </a:p>
          <a:p>
            <a:pPr indent="-387350" lvl="0" marL="457200" rtl="0" algn="l">
              <a:lnSpc>
                <a:spcPct val="100000"/>
              </a:lnSpc>
              <a:spcBef>
                <a:spcPts val="0"/>
              </a:spcBef>
              <a:spcAft>
                <a:spcPts val="0"/>
              </a:spcAft>
              <a:buClr>
                <a:schemeClr val="lt1"/>
              </a:buClr>
              <a:buSzPts val="2500"/>
              <a:buFont typeface="Cabin"/>
              <a:buChar char="-"/>
            </a:pPr>
            <a:r>
              <a:rPr lang="en-US" sz="2500">
                <a:solidFill>
                  <a:schemeClr val="lt1"/>
                </a:solidFill>
                <a:latin typeface="Cabin"/>
                <a:ea typeface="Cabin"/>
                <a:cs typeface="Cabin"/>
                <a:sym typeface="Cabin"/>
              </a:rPr>
              <a:t>Expandable platform</a:t>
            </a:r>
            <a:endParaRPr sz="2500">
              <a:solidFill>
                <a:schemeClr val="lt1"/>
              </a:solidFill>
              <a:latin typeface="Cabin"/>
              <a:ea typeface="Cabin"/>
              <a:cs typeface="Cabin"/>
              <a:sym typeface="Cabin"/>
            </a:endParaRPr>
          </a:p>
          <a:p>
            <a:pPr indent="0" lvl="0" marL="457200" rtl="0" algn="l">
              <a:lnSpc>
                <a:spcPct val="100000"/>
              </a:lnSpc>
              <a:spcBef>
                <a:spcPts val="0"/>
              </a:spcBef>
              <a:spcAft>
                <a:spcPts val="0"/>
              </a:spcAft>
              <a:buNone/>
            </a:pPr>
            <a:r>
              <a:t/>
            </a:r>
            <a:endParaRPr sz="2500">
              <a:solidFill>
                <a:schemeClr val="lt1"/>
              </a:solidFill>
              <a:latin typeface="Cabin"/>
              <a:ea typeface="Cabin"/>
              <a:cs typeface="Cabin"/>
              <a:sym typeface="Cabin"/>
            </a:endParaRPr>
          </a:p>
          <a:p>
            <a:pPr indent="0" lvl="0" marL="457200" rtl="0" algn="l">
              <a:lnSpc>
                <a:spcPct val="100000"/>
              </a:lnSpc>
              <a:spcBef>
                <a:spcPts val="0"/>
              </a:spcBef>
              <a:spcAft>
                <a:spcPts val="0"/>
              </a:spcAft>
              <a:buNone/>
            </a:pPr>
            <a:r>
              <a:t/>
            </a:r>
            <a:endParaRPr sz="2500">
              <a:solidFill>
                <a:schemeClr val="lt1"/>
              </a:solidFill>
              <a:latin typeface="Cabin"/>
              <a:ea typeface="Cabin"/>
              <a:cs typeface="Cabin"/>
              <a:sym typeface="Cabin"/>
            </a:endParaRPr>
          </a:p>
          <a:p>
            <a:pPr indent="-387350" lvl="0" marL="457200" rtl="0" algn="l">
              <a:lnSpc>
                <a:spcPct val="100000"/>
              </a:lnSpc>
              <a:spcBef>
                <a:spcPts val="0"/>
              </a:spcBef>
              <a:spcAft>
                <a:spcPts val="0"/>
              </a:spcAft>
              <a:buClr>
                <a:srgbClr val="FFFFFF"/>
              </a:buClr>
              <a:buSzPts val="2500"/>
              <a:buFont typeface="Cabin"/>
              <a:buChar char="-"/>
            </a:pPr>
            <a:r>
              <a:rPr lang="en-US" sz="2500">
                <a:solidFill>
                  <a:srgbClr val="FFFFFF"/>
                </a:solidFill>
                <a:latin typeface="Cabin"/>
                <a:ea typeface="Cabin"/>
                <a:cs typeface="Cabin"/>
                <a:sym typeface="Cabin"/>
              </a:rPr>
              <a:t>Recurring revenue</a:t>
            </a:r>
            <a:endParaRPr sz="2500">
              <a:solidFill>
                <a:srgbClr val="FFFFFF"/>
              </a:solidFill>
              <a:latin typeface="Cabin"/>
              <a:ea typeface="Cabin"/>
              <a:cs typeface="Cabin"/>
              <a:sym typeface="Cabin"/>
            </a:endParaRPr>
          </a:p>
          <a:p>
            <a:pPr indent="0" lvl="0" marL="0" rtl="0" algn="l">
              <a:lnSpc>
                <a:spcPct val="100000"/>
              </a:lnSpc>
              <a:spcBef>
                <a:spcPts val="0"/>
              </a:spcBef>
              <a:spcAft>
                <a:spcPts val="0"/>
              </a:spcAft>
              <a:buNone/>
            </a:pPr>
            <a:r>
              <a:t/>
            </a:r>
            <a:endParaRPr sz="2500">
              <a:solidFill>
                <a:srgbClr val="FFFFFF"/>
              </a:solidFill>
              <a:latin typeface="Cabin"/>
              <a:ea typeface="Cabin"/>
              <a:cs typeface="Cabin"/>
              <a:sym typeface="Cabin"/>
            </a:endParaRPr>
          </a:p>
          <a:p>
            <a:pPr indent="0" lvl="0" marL="0" marR="0" rtl="0" algn="l">
              <a:lnSpc>
                <a:spcPct val="100000"/>
              </a:lnSpc>
              <a:spcBef>
                <a:spcPts val="0"/>
              </a:spcBef>
              <a:spcAft>
                <a:spcPts val="0"/>
              </a:spcAft>
              <a:buClr>
                <a:srgbClr val="CAD6DE"/>
              </a:buClr>
              <a:buSzPts val="1850"/>
              <a:buFont typeface="Cabin"/>
              <a:buNone/>
            </a:pPr>
            <a:r>
              <a:t/>
            </a:r>
            <a:endParaRPr sz="1850">
              <a:solidFill>
                <a:srgbClr val="FFFFFF"/>
              </a:solidFill>
              <a:latin typeface="Cabin"/>
              <a:ea typeface="Cabin"/>
              <a:cs typeface="Cabin"/>
              <a:sym typeface="Cabin"/>
            </a:endParaRPr>
          </a:p>
        </p:txBody>
      </p:sp>
      <p:pic>
        <p:nvPicPr>
          <p:cNvPr id="186" name="Google Shape;186;p23"/>
          <p:cNvPicPr preferRelativeResize="0"/>
          <p:nvPr/>
        </p:nvPicPr>
        <p:blipFill>
          <a:blip r:embed="rId4">
            <a:alphaModFix amt="90000"/>
          </a:blip>
          <a:stretch>
            <a:fillRect/>
          </a:stretch>
        </p:blipFill>
        <p:spPr>
          <a:xfrm>
            <a:off x="4605550" y="2816437"/>
            <a:ext cx="3948626" cy="2823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4"/>
          <p:cNvSpPr/>
          <p:nvPr/>
        </p:nvSpPr>
        <p:spPr>
          <a:xfrm>
            <a:off x="837724" y="1480899"/>
            <a:ext cx="563249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Unbounded"/>
              <a:buNone/>
            </a:pPr>
            <a:r>
              <a:rPr b="0" i="0" lang="en-US" sz="4400" u="none" cap="none" strike="noStrike">
                <a:solidFill>
                  <a:srgbClr val="FFFFFF"/>
                </a:solidFill>
                <a:latin typeface="Unbounded"/>
                <a:ea typeface="Unbounded"/>
                <a:cs typeface="Unbounded"/>
                <a:sym typeface="Unbounded"/>
              </a:rPr>
              <a:t>Next Steps</a:t>
            </a:r>
            <a:endParaRPr b="0" i="0" sz="4400" u="none" cap="none" strike="noStrike"/>
          </a:p>
        </p:txBody>
      </p:sp>
      <p:pic>
        <p:nvPicPr>
          <p:cNvPr descr="preencoded.png" id="193" name="Google Shape;193;p24"/>
          <p:cNvPicPr preferRelativeResize="0"/>
          <p:nvPr/>
        </p:nvPicPr>
        <p:blipFill rotWithShape="1">
          <a:blip r:embed="rId3">
            <a:alphaModFix/>
          </a:blip>
          <a:srcRect b="0" l="0" r="0" t="0"/>
          <a:stretch/>
        </p:blipFill>
        <p:spPr>
          <a:xfrm>
            <a:off x="837724" y="2663666"/>
            <a:ext cx="4318278" cy="957501"/>
          </a:xfrm>
          <a:prstGeom prst="rect">
            <a:avLst/>
          </a:prstGeom>
          <a:noFill/>
          <a:ln>
            <a:noFill/>
          </a:ln>
        </p:spPr>
      </p:pic>
      <p:sp>
        <p:nvSpPr>
          <p:cNvPr id="194" name="Google Shape;194;p24"/>
          <p:cNvSpPr/>
          <p:nvPr/>
        </p:nvSpPr>
        <p:spPr>
          <a:xfrm>
            <a:off x="1077039" y="3860483"/>
            <a:ext cx="3839647" cy="7038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Database Implementation</a:t>
            </a:r>
            <a:endParaRPr b="0" i="0" sz="2200" u="none" cap="none" strike="noStrike"/>
          </a:p>
        </p:txBody>
      </p:sp>
      <p:sp>
        <p:nvSpPr>
          <p:cNvPr id="195" name="Google Shape;195;p24"/>
          <p:cNvSpPr/>
          <p:nvPr/>
        </p:nvSpPr>
        <p:spPr>
          <a:xfrm>
            <a:off x="1077039" y="4707969"/>
            <a:ext cx="3839647"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Guillermo leads schema creation and relationship mapping</a:t>
            </a:r>
            <a:endParaRPr b="0" i="0" sz="1850" u="none" cap="none" strike="noStrike"/>
          </a:p>
        </p:txBody>
      </p:sp>
      <p:pic>
        <p:nvPicPr>
          <p:cNvPr descr="preencoded.png" id="196" name="Google Shape;196;p24"/>
          <p:cNvPicPr preferRelativeResize="0"/>
          <p:nvPr/>
        </p:nvPicPr>
        <p:blipFill rotWithShape="1">
          <a:blip r:embed="rId4">
            <a:alphaModFix/>
          </a:blip>
          <a:srcRect b="0" l="0" r="0" t="0"/>
          <a:stretch/>
        </p:blipFill>
        <p:spPr>
          <a:xfrm>
            <a:off x="5156002" y="2663666"/>
            <a:ext cx="4318278" cy="957501"/>
          </a:xfrm>
          <a:prstGeom prst="rect">
            <a:avLst/>
          </a:prstGeom>
          <a:noFill/>
          <a:ln>
            <a:noFill/>
          </a:ln>
        </p:spPr>
      </p:pic>
      <p:sp>
        <p:nvSpPr>
          <p:cNvPr id="197" name="Google Shape;197;p24"/>
          <p:cNvSpPr/>
          <p:nvPr/>
        </p:nvSpPr>
        <p:spPr>
          <a:xfrm>
            <a:off x="5395317" y="3860483"/>
            <a:ext cx="2866192"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API Development</a:t>
            </a:r>
            <a:endParaRPr b="0" i="0" sz="2200" u="none" cap="none" strike="noStrike"/>
          </a:p>
        </p:txBody>
      </p:sp>
      <p:sp>
        <p:nvSpPr>
          <p:cNvPr id="198" name="Google Shape;198;p24"/>
          <p:cNvSpPr/>
          <p:nvPr/>
        </p:nvSpPr>
        <p:spPr>
          <a:xfrm>
            <a:off x="5395317" y="4356021"/>
            <a:ext cx="3839647"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Muhammad and Tyler build backend endpoints for frontend integration</a:t>
            </a:r>
            <a:endParaRPr b="0" i="0" sz="1850" u="none" cap="none" strike="noStrike"/>
          </a:p>
        </p:txBody>
      </p:sp>
      <p:pic>
        <p:nvPicPr>
          <p:cNvPr descr="preencoded.png" id="199" name="Google Shape;199;p24"/>
          <p:cNvPicPr preferRelativeResize="0"/>
          <p:nvPr/>
        </p:nvPicPr>
        <p:blipFill rotWithShape="1">
          <a:blip r:embed="rId5">
            <a:alphaModFix/>
          </a:blip>
          <a:srcRect b="0" l="0" r="0" t="0"/>
          <a:stretch/>
        </p:blipFill>
        <p:spPr>
          <a:xfrm>
            <a:off x="9474279" y="2663666"/>
            <a:ext cx="4318278" cy="957501"/>
          </a:xfrm>
          <a:prstGeom prst="rect">
            <a:avLst/>
          </a:prstGeom>
          <a:noFill/>
          <a:ln>
            <a:noFill/>
          </a:ln>
        </p:spPr>
      </p:pic>
      <p:sp>
        <p:nvSpPr>
          <p:cNvPr id="200" name="Google Shape;200;p24"/>
          <p:cNvSpPr/>
          <p:nvPr/>
        </p:nvSpPr>
        <p:spPr>
          <a:xfrm>
            <a:off x="9713595" y="3860483"/>
            <a:ext cx="2816185" cy="3519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AD6DE"/>
              </a:buClr>
              <a:buSzPts val="2200"/>
              <a:buFont typeface="Unbounded"/>
              <a:buNone/>
            </a:pPr>
            <a:r>
              <a:rPr b="0" i="0" lang="en-US" sz="2200" u="none" cap="none" strike="noStrike">
                <a:solidFill>
                  <a:srgbClr val="CAD6DE"/>
                </a:solidFill>
                <a:latin typeface="Unbounded"/>
                <a:ea typeface="Unbounded"/>
                <a:cs typeface="Unbounded"/>
                <a:sym typeface="Unbounded"/>
              </a:rPr>
              <a:t>UI/UX Design</a:t>
            </a:r>
            <a:endParaRPr b="0" i="0" sz="2200" u="none" cap="none" strike="noStrike"/>
          </a:p>
        </p:txBody>
      </p:sp>
      <p:sp>
        <p:nvSpPr>
          <p:cNvPr id="201" name="Google Shape;201;p24"/>
          <p:cNvSpPr/>
          <p:nvPr/>
        </p:nvSpPr>
        <p:spPr>
          <a:xfrm>
            <a:off x="9713595" y="4356021"/>
            <a:ext cx="3839647"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Thierno</a:t>
            </a:r>
            <a:r>
              <a:rPr lang="en-US" sz="1850">
                <a:solidFill>
                  <a:srgbClr val="CAD6DE"/>
                </a:solidFill>
                <a:latin typeface="Cabin"/>
                <a:ea typeface="Cabin"/>
                <a:cs typeface="Cabin"/>
                <a:sym typeface="Cabin"/>
              </a:rPr>
              <a:t>,</a:t>
            </a:r>
            <a:r>
              <a:rPr b="0" i="0" lang="en-US" sz="1850" u="none" cap="none" strike="noStrike">
                <a:solidFill>
                  <a:srgbClr val="CAD6DE"/>
                </a:solidFill>
                <a:latin typeface="Cabin"/>
                <a:ea typeface="Cabin"/>
                <a:cs typeface="Cabin"/>
                <a:sym typeface="Cabin"/>
              </a:rPr>
              <a:t> Mim and Rishika create wireframes and user journey maps</a:t>
            </a:r>
            <a:endParaRPr b="0" i="0" sz="1850" u="none" cap="none" strike="noStrike"/>
          </a:p>
        </p:txBody>
      </p:sp>
      <p:sp>
        <p:nvSpPr>
          <p:cNvPr id="202" name="Google Shape;202;p24"/>
          <p:cNvSpPr/>
          <p:nvPr/>
        </p:nvSpPr>
        <p:spPr>
          <a:xfrm>
            <a:off x="837724" y="5982533"/>
            <a:ext cx="12954952" cy="76604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CAD6DE"/>
              </a:buClr>
              <a:buSzPts val="1850"/>
              <a:buFont typeface="Cabin"/>
              <a:buNone/>
            </a:pPr>
            <a:r>
              <a:rPr b="0" i="0" lang="en-US" sz="1850" u="none" cap="none" strike="noStrike">
                <a:solidFill>
                  <a:srgbClr val="CAD6DE"/>
                </a:solidFill>
                <a:latin typeface="Cabin"/>
                <a:ea typeface="Cabin"/>
                <a:cs typeface="Cabin"/>
                <a:sym typeface="Cabin"/>
              </a:rPr>
              <a:t>Collaborative sprint planning ensures parallel progress across database, frontend, and backend teams. Weekly syncs maintain alignment on decisions and requirements.</a:t>
            </a:r>
            <a:endParaRPr b="0" i="0" sz="1850" u="none" cap="none" strike="noStrike"/>
          </a:p>
        </p:txBody>
      </p:sp>
      <p:sp>
        <p:nvSpPr>
          <p:cNvPr id="203" name="Google Shape;203;p24"/>
          <p:cNvSpPr/>
          <p:nvPr/>
        </p:nvSpPr>
        <p:spPr>
          <a:xfrm>
            <a:off x="12763600" y="7679625"/>
            <a:ext cx="1770600" cy="462900"/>
          </a:xfrm>
          <a:prstGeom prst="rect">
            <a:avLst/>
          </a:prstGeom>
          <a:solidFill>
            <a:srgbClr val="112836"/>
          </a:solidFill>
          <a:ln cap="flat" cmpd="sng" w="9525">
            <a:solidFill>
              <a:srgbClr val="1128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